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embeddedFontLst>
    <p:embeddedFont>
      <p:font typeface="Parkinsans" panose="020B0604020202020204" charset="0"/>
      <p:bold r:id="rId10"/>
    </p:embeddedFont>
    <p:embeddedFont>
      <p:font typeface="Reddit Mono Medium" panose="020B0604020202020204" charset="0"/>
      <p:regular r:id="rId11"/>
      <p:bold r:id="rId12"/>
    </p:embeddedFont>
    <p:embeddedFont>
      <p:font typeface="Reddit Sans" panose="020B0604020202020204" charset="0"/>
      <p:regular r:id="rId13"/>
      <p:bold r:id="rId14"/>
      <p:italic r:id="rId15"/>
      <p:boldItalic r:id="rId16"/>
    </p:embeddedFont>
    <p:embeddedFont>
      <p:font typeface="Reddit Sans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E1EBFA-1DD8-40F3-9E00-23D77B50473C}">
  <a:tblStyle styleId="{C7E1EBFA-1DD8-40F3-9E00-23D77B5047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075" y="-13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de la Etapa 1 del Proyecto Final de Sistemas Embebidos para el grupo LIME01-C3 en la UTEQ. Se presenta el diseño e implementación preliminar de un robot de sumo controlado por smartphone con microcontrolador STM32F407G-DISC1 y eyector de agua.</a:t>
            </a:r>
            <a:endParaRPr/>
          </a:p>
        </p:txBody>
      </p:sp>
      <p:sp>
        <p:nvSpPr>
          <p:cNvPr id="19" name="Google Shape;1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Resaltar los tres ejes: marco teórico, problemática técnica multicomponente y justificación curricular fundamentada en las prácticas de laboratorio 7 y 8.</a:t>
            </a:r>
            <a:endParaRPr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Revisar punto a punto la correspondencia entre las especificaciones solicitadas en la rúbrica y los subsistemas asignados a la placa STM32.</a:t>
            </a: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el flujo de señales: comando del operador vía UART, procesamiento central y despacho hacia la etapa de potencia o respuesta ante sensores perimetrales.</a:t>
            </a: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Destacar que no se usan servomotores ni torretas móviles: la boquilla es estática y el apuntamiento se realiza girando el propio chasis del robot.</a:t>
            </a: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diagrama de Gantt destacando los dos hitos de control: 22 de noviembre (módulos probados) y 6 de diciembre (integración al 100%).</a:t>
            </a:r>
            <a:endParaRPr/>
          </a:p>
        </p:txBody>
      </p:sp>
      <p:sp>
        <p:nvSpPr>
          <p:cNvPr id="182" name="Google Shape;1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0"/>
            <a:ext cx="5638800" cy="51435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495300" y="457200"/>
            <a:ext cx="4301803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590550" y="494109"/>
            <a:ext cx="456850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PROYECTO FINAL · ETAPA 1 · LIME01-C3 · SISTEMAS EMBEBIDOS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495300" y="1370781"/>
            <a:ext cx="4800600" cy="117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Parkinsans"/>
              <a:buNone/>
            </a:pPr>
            <a:r>
              <a:rPr lang="en-US" sz="2050" b="1" i="0" u="none" strike="noStrike" cap="none">
                <a:solidFill>
                  <a:srgbClr val="FFFFFF"/>
                </a:solidFill>
                <a:latin typeface="Parkinsans"/>
                <a:ea typeface="Parkinsans"/>
                <a:cs typeface="Parkinsans"/>
                <a:sym typeface="Parkinsans"/>
              </a:rPr>
              <a:t>Diseño e Implementación de un Robot de Sumo Controlado por Smartphone mediante STM32 con Sistema de Lanzamiento de Agua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495300" y="2696542"/>
            <a:ext cx="5143500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Universidad Tecnológica de Querétaro (UTEQ) · Septiembre–Diciembre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495300" y="4705424"/>
            <a:ext cx="4800600" cy="38100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495300" y="3599631"/>
            <a:ext cx="4800600" cy="991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Integrantes del equipo: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TELLO GARCIA EDGAR JOEL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SANCHEZ PEREA ALAN SALVADOR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RAMIREZ PEGUEROS LUIS ALBERTO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5638800" y="0"/>
            <a:ext cx="3505200" cy="51435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8800" y="0"/>
            <a:ext cx="350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5295900" y="4591050"/>
            <a:ext cx="190500" cy="190500"/>
          </a:xfrm>
          <a:prstGeom prst="ellipse">
            <a:avLst/>
          </a:prstGeom>
          <a:solidFill>
            <a:srgbClr val="FFFFFF"/>
          </a:solidFill>
          <a:ln w="50800" cap="flat" cmpd="sng">
            <a:solidFill>
              <a:srgbClr val="1F4F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457200" y="304800"/>
            <a:ext cx="1200299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552450" y="341709"/>
            <a:ext cx="14669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FUNDAMENTACIÓN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57200" y="590550"/>
            <a:ext cx="82296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Un robot móvil exige resolver seis retos de sistemas embebidos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57200" y="1360140"/>
            <a:ext cx="2590800" cy="57150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628650" y="1531590"/>
            <a:ext cx="334789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723900" y="1568499"/>
            <a:ext cx="6014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28650" y="1784003"/>
            <a:ext cx="2266950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Introducción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28650" y="2128763"/>
            <a:ext cx="2266950" cy="9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Los sistemas embebidos controlan dispositivos mediante microcontroladores; en robótica móvil integran sensores, actuadores y comunicación.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28650" y="4222477"/>
            <a:ext cx="2266950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Solución: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Robot de sumo controlado por Bluetooth desde Android con STM32F407.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276600" y="1360140"/>
            <a:ext cx="2590800" cy="57150"/>
          </a:xfrm>
          <a:prstGeom prst="rect">
            <a:avLst/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3448050" y="1531590"/>
            <a:ext cx="334789" cy="190500"/>
          </a:xfrm>
          <a:prstGeom prst="roundRect">
            <a:avLst>
              <a:gd name="adj" fmla="val 50000"/>
            </a:avLst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3543300" y="1568499"/>
            <a:ext cx="6014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448050" y="1784003"/>
            <a:ext cx="2266950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Problemática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3448050" y="2128763"/>
            <a:ext cx="2419350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Seis retos de sistemas embebidos: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448050" y="2399258"/>
            <a:ext cx="2266950" cy="178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Char char="•"/>
            </a:pP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independiente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inalámbrica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confiable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Char char="•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digitales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detección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límites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pista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Char char="•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actuadores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alimentación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protección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componentes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096000" y="1360140"/>
            <a:ext cx="2590800" cy="57150"/>
          </a:xfrm>
          <a:prstGeom prst="rect">
            <a:avLst/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6267450" y="1531590"/>
            <a:ext cx="334789" cy="19050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362700" y="1568499"/>
            <a:ext cx="6014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267450" y="1784003"/>
            <a:ext cx="2266950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Justificación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267450" y="2128763"/>
            <a:ext cx="2266950" cy="9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Aplica lo aprendido en las prácticas 7 y 8 con la misma STM32F407G-DISC1. El Bluetooth da control inalámbrico, los sensores de borde dan seguridad y la minibomba añade un actuador extra.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304800" y="190500"/>
            <a:ext cx="1633091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00050" y="227409"/>
            <a:ext cx="1899791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CUMPLIMIENTO TÉCNICO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04800" y="476250"/>
            <a:ext cx="85344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El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proyecto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cumple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los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requisitos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304800" y="1245840"/>
            <a:ext cx="42100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Objetivo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general: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diseñar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construir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programar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un robot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tipo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sumo con STM32F407G-DISC1,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controlado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desde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Android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Bluetooth, con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movimiento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PWM,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detección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límites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pista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un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sistema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complementario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lanzamiento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agua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04800" y="2189708"/>
            <a:ext cx="4210050" cy="218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Diseñar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chasis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compacto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con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cuña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frontal.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dos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DC con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reductora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mediante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PWM.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Establecer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UART entre STM32 y HC-05.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Implementar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una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interfaz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control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Android.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dos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digitales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borde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una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minibomba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con salida digital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circuito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potencia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Implementar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paro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ante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pérdida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probar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todos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subsistemas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7"/>
          <p:cNvGraphicFramePr/>
          <p:nvPr>
            <p:extLst>
              <p:ext uri="{D42A27DB-BD31-4B8C-83A1-F6EECF244321}">
                <p14:modId xmlns:p14="http://schemas.microsoft.com/office/powerpoint/2010/main" val="1004369405"/>
              </p:ext>
            </p:extLst>
          </p:nvPr>
        </p:nvGraphicFramePr>
        <p:xfrm>
          <a:off x="4629150" y="1245840"/>
          <a:ext cx="4210050" cy="2539250"/>
        </p:xfrm>
        <a:graphic>
          <a:graphicData uri="http://schemas.openxmlformats.org/drawingml/2006/table">
            <a:tbl>
              <a:tblPr>
                <a:noFill/>
                <a:tableStyleId>{C7E1EBFA-1DD8-40F3-9E00-23D77B50473C}</a:tableStyleId>
              </a:tblPr>
              <a:tblGrid>
                <a:gridCol w="19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Requisito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Implementación propuesta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Microcontrolador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STM32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STM32F407G-DISC1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actuadores PWM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Motor izquierdo y derecho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entradas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digitales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Sensores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de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borde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Complejidad técnica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Robot de sumo con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comunicación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, control,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sensores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y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módulo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de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agua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Equipo de 2 a 4 integrantes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Equipo de 3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integrantes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419100" y="209550"/>
            <a:ext cx="1849487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514350" y="246459"/>
            <a:ext cx="21161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ARQUITECTURA DE CONTROL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419100" y="495300"/>
            <a:ext cx="5460950" cy="92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La STM32 es el centro de comunicación, control, sensores y bomba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272585" y="615255"/>
            <a:ext cx="1411188" cy="17145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6367835" y="650974"/>
            <a:ext cx="1677888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Control / UART / PWM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7740923" y="615255"/>
            <a:ext cx="983977" cy="17145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7836173" y="650974"/>
            <a:ext cx="88872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Sensores GPIO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7802017" y="843855"/>
            <a:ext cx="922883" cy="171450"/>
          </a:xfrm>
          <a:prstGeom prst="roundRect">
            <a:avLst>
              <a:gd name="adj" fmla="val 50000"/>
            </a:avLst>
          </a:prstGeom>
          <a:solidFill>
            <a:srgbClr val="D612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7897267" y="879574"/>
            <a:ext cx="827633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Alimentación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419100" y="1516335"/>
            <a:ext cx="57150" cy="3156868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47700" y="1687785"/>
            <a:ext cx="1656085" cy="1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72"/>
              </a:buClr>
              <a:buSzPts val="900"/>
              <a:buFont typeface="Reddit Mono Medium"/>
              <a:buNone/>
            </a:pPr>
            <a:r>
              <a:rPr lang="en-US" sz="900" b="0" i="0" u="none" strike="noStrike" cap="none">
                <a:solidFill>
                  <a:srgbClr val="4A5372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COMUNICACIÓN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47700" y="1886843"/>
            <a:ext cx="1484635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Teléfono Android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647700" y="2206823"/>
            <a:ext cx="1484635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Bluetooth clásico → HC-05 → UART → STM32.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47700" y="3323630"/>
            <a:ext cx="1656085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Mono Medium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Comandos de control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47700" y="3641750"/>
            <a:ext cx="1484635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 dirty="0" err="1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Módulo</a:t>
            </a:r>
            <a:r>
              <a:rPr lang="en-US" sz="1300" b="0" i="0" u="none" strike="noStrike" cap="none" dirty="0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 HC-05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47700" y="3961730"/>
            <a:ext cx="1484635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entre Android y STM32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UART.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2418011" y="1516335"/>
            <a:ext cx="4307904" cy="3156868"/>
          </a:xfrm>
          <a:prstGeom prst="rect">
            <a:avLst/>
          </a:prstGeom>
          <a:solidFill>
            <a:srgbClr val="EEF2FD"/>
          </a:solidFill>
          <a:ln w="19050" cap="flat" cmpd="sng">
            <a:solidFill>
              <a:srgbClr val="1F4F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2570411" y="1668735"/>
            <a:ext cx="1849487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2665661" y="1705645"/>
            <a:ext cx="21161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NÚCLEO DE PROCESAMIENTO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2570411" y="1921148"/>
            <a:ext cx="400310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500"/>
              <a:buFont typeface="Reddit Sans Medium"/>
              <a:buNone/>
            </a:pPr>
            <a:r>
              <a:rPr lang="en-US" sz="15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STM32F407G-DISC1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570411" y="2278335"/>
            <a:ext cx="4155504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 UART y control de movimiento, sensores y bomba.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2570411" y="2553593"/>
            <a:ext cx="1944365" cy="1322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570411" y="2553593"/>
            <a:ext cx="38100" cy="1322933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2703761" y="2629793"/>
            <a:ext cx="1715765" cy="117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1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Movimiento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Dos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señales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PWM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independientes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señales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digitales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dirección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→ driver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puente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H → motor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izquierdo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y derecho.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629076" y="2553593"/>
            <a:ext cx="1944439" cy="1322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4629076" y="2553593"/>
            <a:ext cx="38100" cy="1322933"/>
          </a:xfrm>
          <a:prstGeom prst="rect">
            <a:avLst/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4762426" y="2629793"/>
            <a:ext cx="1715839" cy="81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Entradas digitales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Sensor infrarrojo izquierdo y derecho → GPIO STM32; orientados al suelo.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2570411" y="3971776"/>
            <a:ext cx="4003104" cy="512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570411" y="3971776"/>
            <a:ext cx="38100" cy="512415"/>
          </a:xfrm>
          <a:prstGeom prst="rect">
            <a:avLst/>
          </a:prstGeom>
          <a:solidFill>
            <a:srgbClr val="D612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2703761" y="4047976"/>
            <a:ext cx="3698304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Agua:</a:t>
            </a:r>
            <a:r>
              <a:rPr lang="en-US" sz="1000" b="0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GPIO → circuito de potencia con MOSFET → minibomba → manguera → boquilla frontal fija.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840141" y="1516335"/>
            <a:ext cx="57150" cy="3156868"/>
          </a:xfrm>
          <a:prstGeom prst="rect">
            <a:avLst/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7068741" y="1687785"/>
            <a:ext cx="1656159" cy="1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72"/>
              </a:buClr>
              <a:buSzPts val="900"/>
              <a:buFont typeface="Reddit Mono Medium"/>
              <a:buNone/>
            </a:pPr>
            <a:r>
              <a:rPr lang="en-US" sz="900" b="0" i="0" u="none" strike="noStrike" cap="none">
                <a:solidFill>
                  <a:srgbClr val="4A5372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ACTUADORES Y POTENCIA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068741" y="1886843"/>
            <a:ext cx="1484709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Driver puente 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068741" y="2206823"/>
            <a:ext cx="1484709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Dos motores DC con reductora.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7068741" y="2662089"/>
            <a:ext cx="1484709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Minibomba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068741" y="2982069"/>
            <a:ext cx="1484709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Circuito de potencia con MOSFET.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7011516" y="3382253"/>
            <a:ext cx="14847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Mono Medium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Batería recargable → protección y regulación → STM32, HC-05, driver y bomba.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419100" y="323850"/>
            <a:ext cx="1705198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14350" y="360759"/>
            <a:ext cx="197189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DISTRIBUCIÓN MECÁNICA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19100" y="576263"/>
            <a:ext cx="83058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Una estructura compacta con cuña frontal y agua separada de la electrónica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191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572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isométrica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Integración general y perfil bajo para empuje.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4765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9"/>
          <p:cNvSpPr/>
          <p:nvPr/>
        </p:nvSpPr>
        <p:spPr>
          <a:xfrm>
            <a:off x="25908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superior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25908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Distribución de masa y separación de líquidos.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863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7244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lateral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7244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Cuña rasante e inclinación para palanca mecánica.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8199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8580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frontal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 de borde y boquilla fija de agua.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381000" y="2676525"/>
            <a:ext cx="38100" cy="616223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14350" y="2714625"/>
            <a:ext cx="2463775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Chasis y cuña: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Estructura rígida de bajo centro de gravedad para maximizar empuje.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187675" y="2676525"/>
            <a:ext cx="38100" cy="616223"/>
          </a:xfrm>
          <a:prstGeom prst="rect">
            <a:avLst/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3321025" y="2714625"/>
            <a:ext cx="2463775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 ópticos: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Dos sensores infrarrojos frontales orientados directamente al tatami.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994350" y="2676525"/>
            <a:ext cx="38100" cy="616223"/>
          </a:xfrm>
          <a:prstGeom prst="rect">
            <a:avLst/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127700" y="2714625"/>
            <a:ext cx="2463850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Aislamiento hidráulico: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Depósito y manguera sellados, alejados de la electrónica central.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400050" y="266700"/>
            <a:ext cx="83439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Desde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el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teléfono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, el robot se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mueve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,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dispara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agua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y se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detiene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con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seguridad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0"/>
          <p:cNvGraphicFramePr/>
          <p:nvPr/>
        </p:nvGraphicFramePr>
        <p:xfrm>
          <a:off x="400050" y="1036290"/>
          <a:ext cx="4598725" cy="3703200"/>
        </p:xfrm>
        <a:graphic>
          <a:graphicData uri="http://schemas.openxmlformats.org/drawingml/2006/table">
            <a:tbl>
              <a:tblPr>
                <a:noFill/>
                <a:tableStyleId>{C7E1EBFA-1DD8-40F3-9E00-23D77B50473C}</a:tableStyleId>
              </a:tblPr>
              <a:tblGrid>
                <a:gridCol w="220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Componente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Función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STM32F407G-DISC1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Control principal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Bluetooth HC-05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Comunicación Android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motores DC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Movimiento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Driver puente H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Control PWM y dirección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sensores infrarrojos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Detección de bordes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Minibomba DC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Impulsar agua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MOSFET y protecciones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Accionar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la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bomba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Depósito, manguera y boquilla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Sistema hidráulico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Batería y reguladores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Alimentación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Chasis y cuña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Estructura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y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empuje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3" name="Google Shape;153;p10"/>
          <p:cNvSpPr/>
          <p:nvPr/>
        </p:nvSpPr>
        <p:spPr>
          <a:xfrm>
            <a:off x="5227290" y="780100"/>
            <a:ext cx="35166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Flujo, controles y seguridad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227290" y="1016473"/>
            <a:ext cx="35166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Flujo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la app Android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envía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comandos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; el HC-05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pasa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UART al STM32,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que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con PWM.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Controles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avanzar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retroceder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girar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izquierda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derecha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regular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velocidad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activar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agua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detener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ante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una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condición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borde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el STM32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puede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detener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o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limitar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movimiento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Botón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AGUA: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Android → Bluetooth → HC-05 → STM32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activa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circuito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potencia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→ la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bomba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impulsa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agua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 la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boquilla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→ al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terminar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la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orden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se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detiene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Seguridad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comando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STOP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detiene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bomba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;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parada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pérdida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baja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presión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; solo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objetivos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inanimados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sin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salpicar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personas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ni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equipo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eléctrico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419100" y="323850"/>
            <a:ext cx="1849487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514350" y="360759"/>
            <a:ext cx="21161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CRONOGRAMA DE EJECUCIÓN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419100" y="576263"/>
            <a:ext cx="553715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Tres etapas llevan el proyecto del 19 de octubre al 6 de diciembre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333679" y="558626"/>
            <a:ext cx="1044997" cy="17145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6428929" y="594345"/>
            <a:ext cx="131169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1 (100%)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435825" y="558626"/>
            <a:ext cx="1289075" cy="171450"/>
          </a:xfrm>
          <a:prstGeom prst="roundRect">
            <a:avLst>
              <a:gd name="adj" fmla="val 50000"/>
            </a:avLst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7531075" y="594345"/>
            <a:ext cx="1193825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000000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2 (Hito 75%)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7374731" y="787226"/>
            <a:ext cx="1350169" cy="17145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7469981" y="822945"/>
            <a:ext cx="1254919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3 (Hito 100%)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" y="1441103"/>
            <a:ext cx="5654055" cy="22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6301680" y="1269653"/>
            <a:ext cx="38100" cy="2565276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6473130" y="1307753"/>
            <a:ext cx="695399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568380" y="1344662"/>
            <a:ext cx="9620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473130" y="1588740"/>
            <a:ext cx="225177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19 oct – 8 </a:t>
            </a:r>
            <a:r>
              <a:rPr lang="en-US" sz="10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nov</a:t>
            </a: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Propuesta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arquitectura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viabilidad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cronograma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473130" y="2005905"/>
            <a:ext cx="1056084" cy="190500"/>
          </a:xfrm>
          <a:prstGeom prst="roundRect">
            <a:avLst>
              <a:gd name="adj" fmla="val 50000"/>
            </a:avLst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6568380" y="2042815"/>
            <a:ext cx="132278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HITO ETAPA 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73130" y="2286893"/>
            <a:ext cx="225177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Meta 22 </a:t>
            </a:r>
            <a:r>
              <a:rPr lang="en-US" sz="10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nov</a:t>
            </a: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75%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módulos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aislados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≥50%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chasis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físico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funcional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473130" y="2704058"/>
            <a:ext cx="1056084" cy="19050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6568380" y="2740967"/>
            <a:ext cx="132278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HITO ETAPA 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473130" y="2985046"/>
            <a:ext cx="225177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Meta 6 dic: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100% prototipo terminado, revisión de código y entrega.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19100" y="3973041"/>
            <a:ext cx="8724900" cy="16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372"/>
              </a:buClr>
              <a:buSzPts val="950"/>
              <a:buFont typeface="Reddit Sans"/>
              <a:buNone/>
            </a:pPr>
            <a:r>
              <a:rPr lang="en-US" sz="950" b="0" i="0" u="none" strike="noStrike" cap="none">
                <a:solidFill>
                  <a:srgbClr val="4A5372"/>
                </a:solidFill>
                <a:latin typeface="Reddit Sans"/>
                <a:ea typeface="Reddit Sans"/>
                <a:cs typeface="Reddit Sans"/>
                <a:sym typeface="Reddit Sans"/>
              </a:rPr>
              <a:t>Metas internas propuestas por el equipo sujetas a sincronización con el calendario oficial del profesor.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1047</Words>
  <Application>Microsoft Office PowerPoint</Application>
  <PresentationFormat>Presentación en pantalla (16:9)</PresentationFormat>
  <Paragraphs>137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Parkinsans</vt:lpstr>
      <vt:lpstr>Reddit Mono Medium</vt:lpstr>
      <vt:lpstr>Arial</vt:lpstr>
      <vt:lpstr>Calibri</vt:lpstr>
      <vt:lpstr>Reddit Sans Medium</vt:lpstr>
      <vt:lpstr>Reddit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Alan salvador Sanchez perea</dc:creator>
  <cp:lastModifiedBy>Alan salvador Sanchez perea</cp:lastModifiedBy>
  <cp:revision>1</cp:revision>
  <dcterms:modified xsi:type="dcterms:W3CDTF">2026-10-20T02:35:36Z</dcterms:modified>
</cp:coreProperties>
</file>
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5143500" cx="9144000"/>
  <p:notesSz cx="5143500" cy="9144000"/>
  <p:embeddedFontLst>
    <p:embeddedFont>
      <p:font typeface="Mukta"/>
      <p:regular r:id="rId16"/>
      <p:bold r:id="rId17"/>
    </p:embeddedFont>
    <p:embeddedFont>
      <p:font typeface="Geist Mono"/>
      <p:bold r:id="rId18"/>
      <p:boldItalic r:id="rId19"/>
    </p:embeddedFont>
    <p:embeddedFont>
      <p:font typeface="Chakra Petch"/>
      <p:bold r:id="rId20"/>
      <p:boldItalic r:id="rId21"/>
    </p:embeddedFont>
    <p:embeddedFont>
      <p:font typeface="Mukta SemiBold"/>
      <p:regular r:id="rId22"/>
      <p:bold r:id="rId23"/>
    </p:embeddedFont>
    <p:embeddedFont>
      <p:font typeface="Geist Mono Medium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9EAF370-753F-45E0-B635-B15873B5B262}">
  <a:tblStyle styleId="{09EAF370-753F-45E0-B635-B15873B5B26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ChakraPetch-bold.fntdata"/><Relationship Id="rId22" Type="http://schemas.openxmlformats.org/officeDocument/2006/relationships/font" Target="fonts/MuktaSemiBold-regular.fntdata"/><Relationship Id="rId21" Type="http://schemas.openxmlformats.org/officeDocument/2006/relationships/font" Target="fonts/ChakraPetch-boldItalic.fntdata"/><Relationship Id="rId24" Type="http://schemas.openxmlformats.org/officeDocument/2006/relationships/font" Target="fonts/GeistMonoMedium-regular.fntdata"/><Relationship Id="rId23" Type="http://schemas.openxmlformats.org/officeDocument/2006/relationships/font" Target="fonts/MuktaSemiBold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GeistMonoMedium-italic.fntdata"/><Relationship Id="rId25" Type="http://schemas.openxmlformats.org/officeDocument/2006/relationships/font" Target="fonts/GeistMonoMedium-bold.fntdata"/><Relationship Id="rId27" Type="http://schemas.openxmlformats.org/officeDocument/2006/relationships/font" Target="fonts/GeistMonoMedium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Mukta-bold.fntdata"/><Relationship Id="rId16" Type="http://schemas.openxmlformats.org/officeDocument/2006/relationships/font" Target="fonts/Mukta-regular.fntdata"/><Relationship Id="rId19" Type="http://schemas.openxmlformats.org/officeDocument/2006/relationships/font" Target="fonts/GeistMono-boldItalic.fntdata"/><Relationship Id="rId18" Type="http://schemas.openxmlformats.org/officeDocument/2006/relationships/font" Target="fonts/GeistMono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Presentar el proyecto final de Etapa 1 ante el comité docente. Enfatizar la integración de hardware con la tarjeta STM32F407G-DISC1, la comunicación inalámbrica Bluetooth y el actuador hidráulico auxiliar.</a:t>
            </a:r>
            <a:endParaRPr/>
          </a:p>
        </p:txBody>
      </p:sp>
      <p:sp>
        <p:nvSpPr>
          <p:cNvPr id="19" name="Google Shape;19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Explicar los cuatro pilares del proyecto: control por STM32, enlace Bluetooth con Android, motricidad con cuña mecánica y seguridad por sensores infrarrojos.</a:t>
            </a:r>
            <a:endParaRPr/>
          </a:p>
        </p:txBody>
      </p:sp>
      <p:sp>
        <p:nvSpPr>
          <p:cNvPr id="31" name="Google Shape;31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" name="Google Shape;55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Resaltar el desafío académico de coordinar tareas concurrentes en un microcontrolador STM32 sin depender de librerías externas de alto nivel.</a:t>
            </a:r>
            <a:endParaRPr/>
          </a:p>
        </p:txBody>
      </p:sp>
      <p:sp>
        <p:nvSpPr>
          <p:cNvPr id="56" name="Google Shape;56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" name="Google Shape;8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Detallar el objetivo general y cómo los 8 objetivos específicos se agrupan en cuatro líneas de trabajo técnico: mecánica, control y comunicación, sensado y actuador auxiliar.</a:t>
            </a:r>
            <a:endParaRPr/>
          </a:p>
        </p:txBody>
      </p:sp>
      <p:sp>
        <p:nvSpPr>
          <p:cNvPr id="82" name="Google Shape;82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Aclarar que los bocetos corresponden a la fase conceptual de Etapa 1 y están sujetos a ajustes durante el montaje físico y pruebas de tolerancia.</a:t>
            </a:r>
            <a:endParaRPr/>
          </a:p>
        </p:txBody>
      </p:sp>
      <p:sp>
        <p:nvSpPr>
          <p:cNvPr id="110" name="Google Shape;110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HC-05 solo es interfaz Bluetooth; el STM32 procesa y controla. Considerar niveles lógicos de 3.3 V y verificar compatibilidad del HC-05.</a:t>
            </a:r>
            <a:endParaRPr/>
          </a:p>
        </p:txBody>
      </p:sp>
      <p:sp>
        <p:nvSpPr>
          <p:cNvPr id="136" name="Google Shape;13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" name="Google Shape;15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Detallar los controles de la aplicación Android y el mecanismo de seguridad 'watchdog': ante corte de comunicación inalámbrica, los motores y la bomba se apagan de inmediato.</a:t>
            </a:r>
            <a:endParaRPr/>
          </a:p>
        </p:txBody>
      </p:sp>
      <p:sp>
        <p:nvSpPr>
          <p:cNvPr id="178" name="Google Shape;17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3" name="Google Shape;20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Explicar por qué se utiliza un MOSFET y diodo de protección en lugar de conectar la bomba directo a un pin GPIO del STM32, y la separación física entre agua y electrónica.</a:t>
            </a:r>
            <a:endParaRPr/>
          </a:p>
        </p:txBody>
      </p:sp>
      <p:sp>
        <p:nvSpPr>
          <p:cNvPr id="204" name="Google Shape;20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Viable por usar tecnologías conocidas (STM32, UART, Bluetooth clásico, PWM, sensores digitales) y la experiencia previa en las prácticas. Por verificar: corriente del driver, capacidad de batería, tensiones y sensores sobre la pista. Presupuesto: pendiente de cotizaciones y selección definitiva. Sin cifras.</a:t>
            </a:r>
            <a:endParaRPr/>
          </a:p>
        </p:txBody>
      </p:sp>
      <p:sp>
        <p:nvSpPr>
          <p:cNvPr id="229" name="Google Shape;229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master 1">
  <p:cSld name="Slide master 1">
    <p:bg>
      <p:bgPr>
        <a:solidFill>
          <a:srgbClr val="FFFFFF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" name="Google Shape;12;p2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29180" y="48444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master 2">
  <p:cSld name="Slide master 2">
    <p:bg>
      <p:bgPr>
        <a:solidFill>
          <a:srgbClr val="FFFFFF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4" name="Google Shape;14;p3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29180" y="48444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jpg"/><Relationship Id="rId4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14.jpg"/><Relationship Id="rId5" Type="http://schemas.openxmlformats.org/officeDocument/2006/relationships/image" Target="../media/image11.png"/><Relationship Id="rId6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5.png"/><Relationship Id="rId7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Relationship Id="rId4" Type="http://schemas.openxmlformats.org/officeDocument/2006/relationships/image" Target="../media/image12.jpg"/><Relationship Id="rId5" Type="http://schemas.openxmlformats.org/officeDocument/2006/relationships/image" Target="../media/image16.png"/><Relationship Id="rId6" Type="http://schemas.openxmlformats.org/officeDocument/2006/relationships/image" Target="../media/image1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jpg"/><Relationship Id="rId4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jpg"/><Relationship Id="rId4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/>
          <p:nvPr/>
        </p:nvSpPr>
        <p:spPr>
          <a:xfrm>
            <a:off x="419100" y="666750"/>
            <a:ext cx="3465000" cy="4316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5"/>
          <p:cNvSpPr/>
          <p:nvPr/>
        </p:nvSpPr>
        <p:spPr>
          <a:xfrm>
            <a:off x="685800" y="895350"/>
            <a:ext cx="3079403" cy="319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5A4B"/>
              </a:buClr>
              <a:buSzPts val="1050"/>
              <a:buFont typeface="Geist Mono"/>
              <a:buNone/>
            </a:pPr>
            <a:r>
              <a:rPr b="1" i="0" lang="en-US" sz="1050" u="none" cap="none" strike="noStrike">
                <a:solidFill>
                  <a:srgbClr val="3E5A4B"/>
                </a:solidFill>
                <a:latin typeface="Geist Mono"/>
                <a:ea typeface="Geist Mono"/>
                <a:cs typeface="Geist Mono"/>
                <a:sym typeface="Geist Mono"/>
              </a:rPr>
              <a:t>UTEQ · SISTEMAS EMBEBIDOS · LIME01-C3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5"/>
          <p:cNvSpPr/>
          <p:nvPr/>
        </p:nvSpPr>
        <p:spPr>
          <a:xfrm>
            <a:off x="685800" y="1291530"/>
            <a:ext cx="3079403" cy="11108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2650"/>
              <a:buFont typeface="Chakra Petch"/>
              <a:buNone/>
            </a:pPr>
            <a:r>
              <a:rPr b="1" i="0" lang="en-US" sz="2650" u="none" cap="none" strike="noStrike">
                <a:solidFill>
                  <a:srgbClr val="17301F"/>
                </a:solidFill>
                <a:latin typeface="Chakra Petch"/>
                <a:ea typeface="Chakra Petch"/>
                <a:cs typeface="Chakra Petch"/>
                <a:sym typeface="Chakra Petch"/>
              </a:rPr>
              <a:t>Robot de Sumo STM32 con Disparo de Agua</a:t>
            </a:r>
            <a:endParaRPr b="0" i="0" sz="2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5"/>
          <p:cNvSpPr/>
          <p:nvPr/>
        </p:nvSpPr>
        <p:spPr>
          <a:xfrm>
            <a:off x="685800" y="2639318"/>
            <a:ext cx="3079328" cy="23738"/>
          </a:xfrm>
          <a:prstGeom prst="roundRect">
            <a:avLst>
              <a:gd fmla="val 50000" name="adj"/>
            </a:avLst>
          </a:prstGeom>
          <a:solidFill>
            <a:srgbClr val="1730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5"/>
          <p:cNvSpPr/>
          <p:nvPr/>
        </p:nvSpPr>
        <p:spPr>
          <a:xfrm>
            <a:off x="685800" y="2881015"/>
            <a:ext cx="3079403" cy="9052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800"/>
              <a:buFont typeface="Mukta"/>
              <a:buNone/>
            </a:pPr>
            <a:r>
              <a:rPr b="0" i="0" lang="en-US" sz="18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Control inalámbrico por Smartphone vía Bluetooth y detección de bordes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5"/>
          <p:cNvSpPr/>
          <p:nvPr/>
        </p:nvSpPr>
        <p:spPr>
          <a:xfrm>
            <a:off x="685800" y="3957712"/>
            <a:ext cx="3079403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435F51"/>
              </a:buClr>
              <a:buSzPts val="1050"/>
              <a:buFont typeface="Geist Mono Medium"/>
              <a:buNone/>
            </a:pPr>
            <a:r>
              <a:rPr b="0" i="0" lang="en-US" sz="1050" u="none" cap="none" strike="noStrike">
                <a:solidFill>
                  <a:srgbClr val="435F51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Proyecto Final – Etapa 1 · Septiembre–Diciembre 2026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435F51"/>
              </a:buClr>
              <a:buSzPts val="1050"/>
              <a:buFont typeface="Geist Mono Medium"/>
              <a:buNone/>
            </a:pPr>
            <a:r>
              <a:rPr b="0" i="0" lang="en-US" sz="1050" u="none" cap="none" strike="noStrike">
                <a:solidFill>
                  <a:srgbClr val="435F51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Integrantes: [AGREGAR NOMBRES COMPLETOS]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33150" y="4032650"/>
            <a:ext cx="1110850" cy="111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/>
          <p:nvPr/>
        </p:nvSpPr>
        <p:spPr>
          <a:xfrm>
            <a:off x="342900" y="342900"/>
            <a:ext cx="2468910" cy="230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Geist Mono Medium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SISTEMA GENERAL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6"/>
          <p:cNvSpPr/>
          <p:nvPr/>
        </p:nvSpPr>
        <p:spPr>
          <a:xfrm>
            <a:off x="342900" y="649560"/>
            <a:ext cx="5181600" cy="6994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2500"/>
              <a:buFont typeface="Chakra Petch"/>
              <a:buNone/>
            </a:pPr>
            <a:r>
              <a:rPr b="1" i="0" lang="en-US" sz="2500" u="none" cap="none" strike="noStrike">
                <a:solidFill>
                  <a:srgbClr val="17301F"/>
                </a:solidFill>
                <a:latin typeface="Chakra Petch"/>
                <a:ea typeface="Chakra Petch"/>
                <a:cs typeface="Chakra Petch"/>
                <a:sym typeface="Chakra Petch"/>
              </a:rPr>
              <a:t>Integración de control, comunicación y sensores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6"/>
          <p:cNvSpPr/>
          <p:nvPr/>
        </p:nvSpPr>
        <p:spPr>
          <a:xfrm>
            <a:off x="342900" y="1585987"/>
            <a:ext cx="5181526" cy="23738"/>
          </a:xfrm>
          <a:prstGeom prst="roundRect">
            <a:avLst>
              <a:gd fmla="val 50000" name="adj"/>
            </a:avLst>
          </a:prstGeom>
          <a:solidFill>
            <a:srgbClr val="1730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6"/>
          <p:cNvSpPr/>
          <p:nvPr/>
        </p:nvSpPr>
        <p:spPr>
          <a:xfrm>
            <a:off x="342900" y="1827684"/>
            <a:ext cx="304800" cy="304800"/>
          </a:xfrm>
          <a:prstGeom prst="ellipse">
            <a:avLst/>
          </a:prstGeom>
          <a:solidFill>
            <a:srgbClr val="C8381F"/>
          </a:solidFill>
          <a:ln cap="flat" cmpd="sng" w="19050">
            <a:solidFill>
              <a:srgbClr val="D4E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6"/>
          <p:cNvSpPr/>
          <p:nvPr/>
        </p:nvSpPr>
        <p:spPr>
          <a:xfrm>
            <a:off x="452438" y="1908646"/>
            <a:ext cx="5429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DF7F0"/>
              </a:buClr>
              <a:buSzPts val="1150"/>
              <a:buFont typeface="Geist Mono"/>
              <a:buNone/>
            </a:pPr>
            <a:r>
              <a:rPr b="1" i="0" lang="en-US" sz="1150" u="none" cap="none" strike="noStrike">
                <a:solidFill>
                  <a:srgbClr val="FDF7F0"/>
                </a:solidFill>
                <a:latin typeface="Geist Mono"/>
                <a:ea typeface="Geist Mono"/>
                <a:cs typeface="Geist Mono"/>
                <a:sym typeface="Geist Mono"/>
              </a:rPr>
              <a:t>1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6"/>
          <p:cNvSpPr/>
          <p:nvPr/>
        </p:nvSpPr>
        <p:spPr>
          <a:xfrm>
            <a:off x="781050" y="1884834"/>
            <a:ext cx="4743450" cy="4022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Robot de sumo controlado desde un teléfono Android con la </a:t>
            </a:r>
            <a:r>
              <a:rPr b="1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STM32F407G-DISC1</a:t>
            </a: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6"/>
          <p:cNvSpPr/>
          <p:nvPr/>
        </p:nvSpPr>
        <p:spPr>
          <a:xfrm>
            <a:off x="342900" y="2656582"/>
            <a:ext cx="304800" cy="304800"/>
          </a:xfrm>
          <a:prstGeom prst="ellipse">
            <a:avLst/>
          </a:prstGeom>
          <a:solidFill>
            <a:srgbClr val="C8381F"/>
          </a:solidFill>
          <a:ln cap="flat" cmpd="sng" w="19050">
            <a:solidFill>
              <a:srgbClr val="D4E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6"/>
          <p:cNvSpPr/>
          <p:nvPr/>
        </p:nvSpPr>
        <p:spPr>
          <a:xfrm>
            <a:off x="452438" y="2737545"/>
            <a:ext cx="5429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DF7F0"/>
              </a:buClr>
              <a:buSzPts val="1150"/>
              <a:buFont typeface="Geist Mono"/>
              <a:buNone/>
            </a:pPr>
            <a:r>
              <a:rPr b="1" i="0" lang="en-US" sz="1150" u="none" cap="none" strike="noStrike">
                <a:solidFill>
                  <a:srgbClr val="FDF7F0"/>
                </a:solidFill>
                <a:latin typeface="Geist Mono"/>
                <a:ea typeface="Geist Mono"/>
                <a:cs typeface="Geist Mono"/>
                <a:sym typeface="Geist Mono"/>
              </a:rPr>
              <a:t>2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6"/>
          <p:cNvSpPr/>
          <p:nvPr/>
        </p:nvSpPr>
        <p:spPr>
          <a:xfrm>
            <a:off x="781050" y="2713732"/>
            <a:ext cx="4743450" cy="4022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Desplazamiento en varias direcciones, velocidad regulable y cuña frontal de empuje.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6"/>
          <p:cNvSpPr/>
          <p:nvPr/>
        </p:nvSpPr>
        <p:spPr>
          <a:xfrm>
            <a:off x="342900" y="3485555"/>
            <a:ext cx="304800" cy="304800"/>
          </a:xfrm>
          <a:prstGeom prst="ellipse">
            <a:avLst/>
          </a:prstGeom>
          <a:solidFill>
            <a:srgbClr val="C8381F"/>
          </a:solidFill>
          <a:ln cap="flat" cmpd="sng" w="19050">
            <a:solidFill>
              <a:srgbClr val="D4E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6"/>
          <p:cNvSpPr/>
          <p:nvPr/>
        </p:nvSpPr>
        <p:spPr>
          <a:xfrm>
            <a:off x="452438" y="3566517"/>
            <a:ext cx="5429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DF7F0"/>
              </a:buClr>
              <a:buSzPts val="1150"/>
              <a:buFont typeface="Geist Mono"/>
              <a:buNone/>
            </a:pPr>
            <a:r>
              <a:rPr b="1" i="0" lang="en-US" sz="1150" u="none" cap="none" strike="noStrike">
                <a:solidFill>
                  <a:srgbClr val="FDF7F0"/>
                </a:solidFill>
                <a:latin typeface="Geist Mono"/>
                <a:ea typeface="Geist Mono"/>
                <a:cs typeface="Geist Mono"/>
                <a:sym typeface="Geist Mono"/>
              </a:rPr>
              <a:t>3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6"/>
          <p:cNvSpPr/>
          <p:nvPr/>
        </p:nvSpPr>
        <p:spPr>
          <a:xfrm>
            <a:off x="781050" y="3542705"/>
            <a:ext cx="4743450" cy="4022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Dos sensores infrarrojos para detectar los límites de la pista y un módulo complementario de agua.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6"/>
          <p:cNvSpPr/>
          <p:nvPr/>
        </p:nvSpPr>
        <p:spPr>
          <a:xfrm>
            <a:off x="342900" y="4314527"/>
            <a:ext cx="304800" cy="304800"/>
          </a:xfrm>
          <a:prstGeom prst="ellipse">
            <a:avLst/>
          </a:prstGeom>
          <a:solidFill>
            <a:srgbClr val="C8381F"/>
          </a:solidFill>
          <a:ln cap="flat" cmpd="sng" w="19050">
            <a:solidFill>
              <a:srgbClr val="D4E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6"/>
          <p:cNvSpPr/>
          <p:nvPr/>
        </p:nvSpPr>
        <p:spPr>
          <a:xfrm>
            <a:off x="452438" y="4395490"/>
            <a:ext cx="5429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DF7F0"/>
              </a:buClr>
              <a:buSzPts val="1150"/>
              <a:buFont typeface="Geist Mono"/>
              <a:buNone/>
            </a:pPr>
            <a:r>
              <a:rPr b="1" i="0" lang="en-US" sz="1150" u="none" cap="none" strike="noStrike">
                <a:solidFill>
                  <a:srgbClr val="FDF7F0"/>
                </a:solidFill>
                <a:latin typeface="Geist Mono"/>
                <a:ea typeface="Geist Mono"/>
                <a:cs typeface="Geist Mono"/>
                <a:sym typeface="Geist Mono"/>
              </a:rPr>
              <a:t>4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6"/>
          <p:cNvSpPr/>
          <p:nvPr/>
        </p:nvSpPr>
        <p:spPr>
          <a:xfrm>
            <a:off x="781050" y="4371677"/>
            <a:ext cx="4743450" cy="4022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Propósito académico: demostrar </a:t>
            </a:r>
            <a:r>
              <a:rPr b="1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PWM, GPIO, UART</a:t>
            </a: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 y accionamiento de actuadores.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8" name="Google Shape;4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34100" y="342900"/>
            <a:ext cx="2667000" cy="44577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6"/>
          <p:cNvSpPr/>
          <p:nvPr/>
        </p:nvSpPr>
        <p:spPr>
          <a:xfrm>
            <a:off x="342900" y="2480370"/>
            <a:ext cx="5181600" cy="9525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6"/>
          <p:cNvSpPr/>
          <p:nvPr/>
        </p:nvSpPr>
        <p:spPr>
          <a:xfrm>
            <a:off x="342900" y="3309342"/>
            <a:ext cx="5181600" cy="9525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6"/>
          <p:cNvSpPr/>
          <p:nvPr/>
        </p:nvSpPr>
        <p:spPr>
          <a:xfrm>
            <a:off x="342900" y="4138315"/>
            <a:ext cx="5181600" cy="9525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52" name="Google Shape;52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33150" y="4032650"/>
            <a:ext cx="1110850" cy="111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7"/>
          <p:cNvSpPr/>
          <p:nvPr/>
        </p:nvSpPr>
        <p:spPr>
          <a:xfrm>
            <a:off x="342900" y="190500"/>
            <a:ext cx="6202635" cy="3497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2500"/>
              <a:buFont typeface="Chakra Petch"/>
              <a:buNone/>
            </a:pPr>
            <a:r>
              <a:rPr b="1" i="0" lang="en-US" sz="2500" u="none" cap="none" strike="noStrike">
                <a:solidFill>
                  <a:srgbClr val="17301F"/>
                </a:solidFill>
                <a:latin typeface="Chakra Petch"/>
                <a:ea typeface="Chakra Petch"/>
                <a:cs typeface="Chakra Petch"/>
                <a:sym typeface="Chakra Petch"/>
              </a:rPr>
              <a:t>Problemática y justificación técnica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7"/>
          <p:cNvSpPr/>
          <p:nvPr/>
        </p:nvSpPr>
        <p:spPr>
          <a:xfrm>
            <a:off x="6655296" y="309786"/>
            <a:ext cx="2145804" cy="230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Geist Mono Medium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FASE DE ANÁLISIS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7"/>
          <p:cNvSpPr/>
          <p:nvPr/>
        </p:nvSpPr>
        <p:spPr>
          <a:xfrm>
            <a:off x="342900" y="758130"/>
            <a:ext cx="8458200" cy="23738"/>
          </a:xfrm>
          <a:prstGeom prst="roundRect">
            <a:avLst>
              <a:gd fmla="val 50000" name="adj"/>
            </a:avLst>
          </a:prstGeom>
          <a:solidFill>
            <a:srgbClr val="1730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7"/>
          <p:cNvSpPr/>
          <p:nvPr/>
        </p:nvSpPr>
        <p:spPr>
          <a:xfrm>
            <a:off x="342900" y="923627"/>
            <a:ext cx="1943100" cy="3652242"/>
          </a:xfrm>
          <a:prstGeom prst="rect">
            <a:avLst/>
          </a:prstGeom>
          <a:solidFill>
            <a:srgbClr val="F2EE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2" name="Google Shape;6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266527"/>
            <a:ext cx="1257300" cy="70723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7"/>
          <p:cNvSpPr/>
          <p:nvPr/>
        </p:nvSpPr>
        <p:spPr>
          <a:xfrm>
            <a:off x="685800" y="2376190"/>
            <a:ext cx="1257300" cy="2472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Movimiento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7"/>
          <p:cNvSpPr/>
          <p:nvPr/>
        </p:nvSpPr>
        <p:spPr>
          <a:xfrm>
            <a:off x="685800" y="2761506"/>
            <a:ext cx="1257300" cy="10057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Regulación de velocidad por PWM y control de sentido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7"/>
          <p:cNvSpPr/>
          <p:nvPr/>
        </p:nvSpPr>
        <p:spPr>
          <a:xfrm>
            <a:off x="2514600" y="923627"/>
            <a:ext cx="1943100" cy="3652242"/>
          </a:xfrm>
          <a:prstGeom prst="rect">
            <a:avLst/>
          </a:prstGeom>
          <a:solidFill>
            <a:srgbClr val="F2EE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6" name="Google Shape;66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857500" y="1266527"/>
            <a:ext cx="1257300" cy="707231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7"/>
          <p:cNvSpPr/>
          <p:nvPr/>
        </p:nvSpPr>
        <p:spPr>
          <a:xfrm>
            <a:off x="2857500" y="2376200"/>
            <a:ext cx="1420800" cy="49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Comunicación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7"/>
          <p:cNvSpPr/>
          <p:nvPr/>
        </p:nvSpPr>
        <p:spPr>
          <a:xfrm>
            <a:off x="2857500" y="3008709"/>
            <a:ext cx="1257300" cy="10057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Enlace inalámbrico sin cables desde aplicación móvil.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7"/>
          <p:cNvSpPr/>
          <p:nvPr/>
        </p:nvSpPr>
        <p:spPr>
          <a:xfrm>
            <a:off x="4686300" y="923627"/>
            <a:ext cx="1943100" cy="3652242"/>
          </a:xfrm>
          <a:prstGeom prst="rect">
            <a:avLst/>
          </a:prstGeom>
          <a:solidFill>
            <a:srgbClr val="F2EE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0" name="Google Shape;70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29200" y="1266527"/>
            <a:ext cx="1257300" cy="707231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7"/>
          <p:cNvSpPr/>
          <p:nvPr/>
        </p:nvSpPr>
        <p:spPr>
          <a:xfrm>
            <a:off x="5029200" y="2376190"/>
            <a:ext cx="1257300" cy="2472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Sensores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7"/>
          <p:cNvSpPr/>
          <p:nvPr/>
        </p:nvSpPr>
        <p:spPr>
          <a:xfrm>
            <a:off x="5029200" y="2761506"/>
            <a:ext cx="1257300" cy="12068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Detección de reflectancia para delimitar la pista y frenar comandos que causen descalificación.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7"/>
          <p:cNvSpPr/>
          <p:nvPr/>
        </p:nvSpPr>
        <p:spPr>
          <a:xfrm>
            <a:off x="6858000" y="923627"/>
            <a:ext cx="1943100" cy="3652242"/>
          </a:xfrm>
          <a:prstGeom prst="rect">
            <a:avLst/>
          </a:prstGeom>
          <a:solidFill>
            <a:srgbClr val="F2EE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4" name="Google Shape;74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200900" y="1266527"/>
            <a:ext cx="1257300" cy="70723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7"/>
          <p:cNvSpPr/>
          <p:nvPr/>
        </p:nvSpPr>
        <p:spPr>
          <a:xfrm>
            <a:off x="7200900" y="2376190"/>
            <a:ext cx="1257300" cy="4944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Módulo de agua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7"/>
          <p:cNvSpPr/>
          <p:nvPr/>
        </p:nvSpPr>
        <p:spPr>
          <a:xfrm>
            <a:off x="7200900" y="3008709"/>
            <a:ext cx="1257300" cy="12068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Accionamiento digital de carga inductiva con transistor MOSFET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7"/>
          <p:cNvSpPr/>
          <p:nvPr/>
        </p:nvSpPr>
        <p:spPr>
          <a:xfrm>
            <a:off x="0" y="4747320"/>
            <a:ext cx="9144000" cy="396180"/>
          </a:xfrm>
          <a:prstGeom prst="rect">
            <a:avLst/>
          </a:prstGeom>
          <a:solidFill>
            <a:srgbClr val="C838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7"/>
          <p:cNvSpPr/>
          <p:nvPr/>
        </p:nvSpPr>
        <p:spPr>
          <a:xfrm>
            <a:off x="0" y="4842570"/>
            <a:ext cx="9144000" cy="205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Geist Mono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Geist Mono"/>
                <a:ea typeface="Geist Mono"/>
                <a:cs typeface="Geist Mono"/>
                <a:sym typeface="Geist Mono"/>
              </a:rPr>
              <a:t>EL STM32 INTEGRA LOS CUATRO SUBSISTEMAS EN UNA SOLA PLATAFORMA EMBEBIDA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8"/>
          <p:cNvSpPr/>
          <p:nvPr/>
        </p:nvSpPr>
        <p:spPr>
          <a:xfrm>
            <a:off x="342900" y="321097"/>
            <a:ext cx="5760690" cy="2922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950"/>
              <a:buFont typeface="Mukta SemiBold"/>
              <a:buNone/>
            </a:pPr>
            <a:r>
              <a:rPr b="0" i="0" lang="en-US" sz="19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Objetivo general y objetivos específicos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8"/>
          <p:cNvSpPr/>
          <p:nvPr/>
        </p:nvSpPr>
        <p:spPr>
          <a:xfrm>
            <a:off x="6332116" y="152400"/>
            <a:ext cx="2468984" cy="460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Geist Mono Medium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ALCANCE DEL PROYECTO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8"/>
          <p:cNvSpPr/>
          <p:nvPr/>
        </p:nvSpPr>
        <p:spPr>
          <a:xfrm>
            <a:off x="342900" y="831205"/>
            <a:ext cx="8458200" cy="23738"/>
          </a:xfrm>
          <a:prstGeom prst="roundRect">
            <a:avLst>
              <a:gd fmla="val 50000" name="adj"/>
            </a:avLst>
          </a:prstGeom>
          <a:solidFill>
            <a:srgbClr val="1730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8"/>
          <p:cNvSpPr/>
          <p:nvPr/>
        </p:nvSpPr>
        <p:spPr>
          <a:xfrm>
            <a:off x="342900" y="1072902"/>
            <a:ext cx="8458200" cy="1405756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8"/>
          <p:cNvSpPr/>
          <p:nvPr/>
        </p:nvSpPr>
        <p:spPr>
          <a:xfrm>
            <a:off x="495300" y="1187202"/>
            <a:ext cx="8305800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Geist Mono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Geist Mono"/>
                <a:ea typeface="Geist Mono"/>
                <a:cs typeface="Geist Mono"/>
                <a:sym typeface="Geist Mono"/>
              </a:rPr>
              <a:t>OBJETIVO GENERAL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8"/>
          <p:cNvSpPr/>
          <p:nvPr/>
        </p:nvSpPr>
        <p:spPr>
          <a:xfrm>
            <a:off x="495300" y="1459111"/>
            <a:ext cx="8153400" cy="9052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Mukt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Mukta"/>
                <a:ea typeface="Mukta"/>
                <a:cs typeface="Mukta"/>
                <a:sym typeface="Mukta"/>
              </a:rPr>
              <a:t>Diseñar, construir y programar</a:t>
            </a:r>
            <a:r>
              <a:rPr b="0" i="0" lang="en-US" sz="1800" u="none" cap="none" strike="noStrike">
                <a:solidFill>
                  <a:srgbClr val="FFFFFF"/>
                </a:solidFill>
                <a:latin typeface="Mukta"/>
                <a:ea typeface="Mukta"/>
                <a:cs typeface="Mukta"/>
                <a:sym typeface="Mukta"/>
              </a:rPr>
              <a:t> un robot de sumo con STM32F407G-DISC1, controlado desde Android por Bluetooth, con motores PWM, detección de pista y módulo de agua.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0" name="Google Shape;90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2900" y="2592985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8"/>
          <p:cNvSpPr/>
          <p:nvPr/>
        </p:nvSpPr>
        <p:spPr>
          <a:xfrm>
            <a:off x="914400" y="2592958"/>
            <a:ext cx="3486150" cy="2472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Chasis y tracción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8"/>
          <p:cNvSpPr/>
          <p:nvPr/>
        </p:nvSpPr>
        <p:spPr>
          <a:xfrm>
            <a:off x="914400" y="2978274"/>
            <a:ext cx="3486150" cy="5142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Chasis resistente con cuña frontal.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85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Dos motores DC independientes por PWM.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3" name="Google Shape;93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43450" y="2592985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8"/>
          <p:cNvSpPr/>
          <p:nvPr/>
        </p:nvSpPr>
        <p:spPr>
          <a:xfrm>
            <a:off x="5314950" y="2592958"/>
            <a:ext cx="3486150" cy="2472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Teleoperación UART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8"/>
          <p:cNvSpPr/>
          <p:nvPr/>
        </p:nvSpPr>
        <p:spPr>
          <a:xfrm>
            <a:off x="5314950" y="2978274"/>
            <a:ext cx="3486150" cy="5142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UART entre STM32 y HC-05.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85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Interfaz de control Android.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6" name="Google Shape;96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42900" y="3835402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8"/>
          <p:cNvSpPr/>
          <p:nvPr/>
        </p:nvSpPr>
        <p:spPr>
          <a:xfrm>
            <a:off x="914400" y="3835375"/>
            <a:ext cx="3486150" cy="2472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Límites del dohyo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8"/>
          <p:cNvSpPr/>
          <p:nvPr/>
        </p:nvSpPr>
        <p:spPr>
          <a:xfrm>
            <a:off x="914400" y="4220691"/>
            <a:ext cx="3486150" cy="5142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Dos sensores IR de borde.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85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Paro y protección ante pérdida de comunicación.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9" name="Google Shape;99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743450" y="3835402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8"/>
          <p:cNvSpPr/>
          <p:nvPr/>
        </p:nvSpPr>
        <p:spPr>
          <a:xfrm>
            <a:off x="5314950" y="3835375"/>
            <a:ext cx="3486150" cy="2472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Actuador de agua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8"/>
          <p:cNvSpPr/>
          <p:nvPr/>
        </p:nvSpPr>
        <p:spPr>
          <a:xfrm>
            <a:off x="5314950" y="4220691"/>
            <a:ext cx="3486150" cy="5142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Minibomba con circuito de potencia.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85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Construir y probar el prototipo completo.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8"/>
          <p:cNvSpPr/>
          <p:nvPr/>
        </p:nvSpPr>
        <p:spPr>
          <a:xfrm>
            <a:off x="4567238" y="2592958"/>
            <a:ext cx="9525" cy="1070967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8"/>
          <p:cNvSpPr/>
          <p:nvPr/>
        </p:nvSpPr>
        <p:spPr>
          <a:xfrm>
            <a:off x="342900" y="3659163"/>
            <a:ext cx="4229100" cy="9525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8"/>
          <p:cNvSpPr/>
          <p:nvPr/>
        </p:nvSpPr>
        <p:spPr>
          <a:xfrm>
            <a:off x="4567238" y="3663925"/>
            <a:ext cx="9525" cy="1070967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8"/>
          <p:cNvSpPr/>
          <p:nvPr/>
        </p:nvSpPr>
        <p:spPr>
          <a:xfrm>
            <a:off x="4572000" y="3659163"/>
            <a:ext cx="4229100" cy="9525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6" name="Google Shape;106;p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033150" y="4032650"/>
            <a:ext cx="1110850" cy="111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9"/>
          <p:cNvSpPr/>
          <p:nvPr/>
        </p:nvSpPr>
        <p:spPr>
          <a:xfrm>
            <a:off x="342900" y="190500"/>
            <a:ext cx="5638800" cy="6994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2500"/>
              <a:buFont typeface="Chakra Petch"/>
              <a:buNone/>
            </a:pPr>
            <a:r>
              <a:rPr b="1" i="0" lang="en-US" sz="2500" u="none" cap="none" strike="noStrike">
                <a:solidFill>
                  <a:srgbClr val="17301F"/>
                </a:solidFill>
                <a:latin typeface="Chakra Petch"/>
                <a:ea typeface="Chakra Petch"/>
                <a:cs typeface="Chakra Petch"/>
                <a:sym typeface="Chakra Petch"/>
              </a:rPr>
              <a:t>Diseño mecánico y bocetos conceptuales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9"/>
          <p:cNvSpPr/>
          <p:nvPr/>
        </p:nvSpPr>
        <p:spPr>
          <a:xfrm>
            <a:off x="6118845" y="659532"/>
            <a:ext cx="2682255" cy="230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Geist Mono Medium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BOCETOS PRELIMINARES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9"/>
          <p:cNvSpPr/>
          <p:nvPr/>
        </p:nvSpPr>
        <p:spPr>
          <a:xfrm>
            <a:off x="342900" y="1107877"/>
            <a:ext cx="8458200" cy="23738"/>
          </a:xfrm>
          <a:prstGeom prst="roundRect">
            <a:avLst>
              <a:gd fmla="val 50000" name="adj"/>
            </a:avLst>
          </a:prstGeom>
          <a:solidFill>
            <a:srgbClr val="1730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9"/>
          <p:cNvSpPr/>
          <p:nvPr/>
        </p:nvSpPr>
        <p:spPr>
          <a:xfrm>
            <a:off x="342900" y="1273373"/>
            <a:ext cx="2028825" cy="3193852"/>
          </a:xfrm>
          <a:prstGeom prst="rect">
            <a:avLst/>
          </a:prstGeom>
          <a:noFill/>
          <a:ln cap="flat" cmpd="sng" w="19050">
            <a:solidFill>
              <a:srgbClr val="D8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6" name="Google Shape;116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8150" y="1368623"/>
            <a:ext cx="1285875" cy="128587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9"/>
          <p:cNvSpPr/>
          <p:nvPr/>
        </p:nvSpPr>
        <p:spPr>
          <a:xfrm>
            <a:off x="438150" y="3037880"/>
            <a:ext cx="1838325" cy="2472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Vista isométrica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9"/>
          <p:cNvSpPr/>
          <p:nvPr/>
        </p:nvSpPr>
        <p:spPr>
          <a:xfrm>
            <a:off x="438150" y="3423196"/>
            <a:ext cx="1838325" cy="6034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Distribución de masa centralizada con cuña inclinada de empuje frontal.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9"/>
          <p:cNvSpPr/>
          <p:nvPr/>
        </p:nvSpPr>
        <p:spPr>
          <a:xfrm>
            <a:off x="2486025" y="1273373"/>
            <a:ext cx="2028825" cy="3193852"/>
          </a:xfrm>
          <a:prstGeom prst="rect">
            <a:avLst/>
          </a:prstGeom>
          <a:noFill/>
          <a:ln cap="flat" cmpd="sng" w="19050">
            <a:solidFill>
              <a:srgbClr val="D8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0" name="Google Shape;120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581275" y="1368623"/>
            <a:ext cx="1285875" cy="128587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9"/>
          <p:cNvSpPr/>
          <p:nvPr/>
        </p:nvSpPr>
        <p:spPr>
          <a:xfrm>
            <a:off x="2581275" y="3037880"/>
            <a:ext cx="1838325" cy="2472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Vista superior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9"/>
          <p:cNvSpPr/>
          <p:nvPr/>
        </p:nvSpPr>
        <p:spPr>
          <a:xfrm>
            <a:off x="2581275" y="3423196"/>
            <a:ext cx="1838325" cy="6034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Zona interna para STM32 y HC-05 protegida de impactos y humedad.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9"/>
          <p:cNvSpPr/>
          <p:nvPr/>
        </p:nvSpPr>
        <p:spPr>
          <a:xfrm>
            <a:off x="4629150" y="1273373"/>
            <a:ext cx="2028825" cy="3193852"/>
          </a:xfrm>
          <a:prstGeom prst="rect">
            <a:avLst/>
          </a:prstGeom>
          <a:noFill/>
          <a:ln cap="flat" cmpd="sng" w="19050">
            <a:solidFill>
              <a:srgbClr val="D8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4" name="Google Shape;124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24400" y="1368623"/>
            <a:ext cx="1285875" cy="128587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9"/>
          <p:cNvSpPr/>
          <p:nvPr/>
        </p:nvSpPr>
        <p:spPr>
          <a:xfrm>
            <a:off x="4724400" y="3037880"/>
            <a:ext cx="1838325" cy="2472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Vista lateral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9"/>
          <p:cNvSpPr/>
          <p:nvPr/>
        </p:nvSpPr>
        <p:spPr>
          <a:xfrm>
            <a:off x="4724400" y="3423196"/>
            <a:ext cx="1838325" cy="6034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Perfil bajo para optimizar tracción y estabilidad en maniobras de giro.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9"/>
          <p:cNvSpPr/>
          <p:nvPr/>
        </p:nvSpPr>
        <p:spPr>
          <a:xfrm>
            <a:off x="6772275" y="1273373"/>
            <a:ext cx="2028825" cy="3193852"/>
          </a:xfrm>
          <a:prstGeom prst="rect">
            <a:avLst/>
          </a:prstGeom>
          <a:noFill/>
          <a:ln cap="flat" cmpd="sng" w="19050">
            <a:solidFill>
              <a:srgbClr val="D8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8" name="Google Shape;128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67525" y="1368623"/>
            <a:ext cx="1285875" cy="1285875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9"/>
          <p:cNvSpPr/>
          <p:nvPr/>
        </p:nvSpPr>
        <p:spPr>
          <a:xfrm>
            <a:off x="6867525" y="3037880"/>
            <a:ext cx="1838325" cy="2472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Vista frontal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9"/>
          <p:cNvSpPr/>
          <p:nvPr/>
        </p:nvSpPr>
        <p:spPr>
          <a:xfrm>
            <a:off x="6867525" y="3423196"/>
            <a:ext cx="1838325" cy="6034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Ubicación de boquilla de agua y sensores IR orientados a la pista.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9"/>
          <p:cNvSpPr/>
          <p:nvPr/>
        </p:nvSpPr>
        <p:spPr>
          <a:xfrm>
            <a:off x="0" y="4619625"/>
            <a:ext cx="9144000" cy="523875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9"/>
          <p:cNvSpPr/>
          <p:nvPr/>
        </p:nvSpPr>
        <p:spPr>
          <a:xfrm>
            <a:off x="228600" y="4714875"/>
            <a:ext cx="86868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Geist Mono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Geist Mono"/>
                <a:ea typeface="Geist Mono"/>
                <a:cs typeface="Geist Mono"/>
                <a:sym typeface="Geist Mono"/>
              </a:rPr>
              <a:t>NOTA DE INGENIERÍA:</a:t>
            </a:r>
            <a:r>
              <a:rPr b="0" i="0" lang="en-US" sz="1050" u="none" cap="none" strike="noStrike">
                <a:solidFill>
                  <a:srgbClr val="FFFFFF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 BOCETOS CONCEPTUALES PRELIMINARES, SUJETOS A AJUSTES DE TOLERANCIA DURANTE LA FABRICACIÓN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0"/>
          <p:cNvSpPr/>
          <p:nvPr/>
        </p:nvSpPr>
        <p:spPr>
          <a:xfrm>
            <a:off x="228600" y="228600"/>
            <a:ext cx="2631728" cy="1967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400"/>
              <a:buFont typeface="Geist Mono Medium"/>
              <a:buNone/>
            </a:pPr>
            <a:r>
              <a:rPr b="0" i="0" lang="en-US" sz="1400" u="none" cap="none" strike="noStrike">
                <a:solidFill>
                  <a:srgbClr val="17301F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DIAGRAMA DE BLOQUES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0"/>
          <p:cNvSpPr/>
          <p:nvPr/>
        </p:nvSpPr>
        <p:spPr>
          <a:xfrm>
            <a:off x="228600" y="480864"/>
            <a:ext cx="8686800" cy="2985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2150"/>
              <a:buFont typeface="Chakra Petch"/>
              <a:buNone/>
            </a:pPr>
            <a:r>
              <a:rPr b="1" i="0" lang="en-US" sz="2150" u="none" cap="none" strike="noStrike">
                <a:solidFill>
                  <a:srgbClr val="17301F"/>
                </a:solidFill>
                <a:latin typeface="Chakra Petch"/>
                <a:ea typeface="Chakra Petch"/>
                <a:cs typeface="Chakra Petch"/>
                <a:sym typeface="Chakra Petch"/>
              </a:rPr>
              <a:t>Arquitectura electrónica del sistema</a:t>
            </a:r>
            <a:endParaRPr b="0" i="0" sz="2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0"/>
          <p:cNvSpPr/>
          <p:nvPr/>
        </p:nvSpPr>
        <p:spPr>
          <a:xfrm>
            <a:off x="228600" y="957635"/>
            <a:ext cx="8686800" cy="23738"/>
          </a:xfrm>
          <a:prstGeom prst="roundRect">
            <a:avLst>
              <a:gd fmla="val 50000" name="adj"/>
            </a:avLst>
          </a:prstGeom>
          <a:solidFill>
            <a:srgbClr val="1730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0"/>
          <p:cNvSpPr/>
          <p:nvPr/>
        </p:nvSpPr>
        <p:spPr>
          <a:xfrm>
            <a:off x="228600" y="1145828"/>
            <a:ext cx="4229100" cy="136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5A4B"/>
              </a:buClr>
              <a:buSzPts val="900"/>
              <a:buFont typeface="Geist Mono"/>
              <a:buNone/>
            </a:pPr>
            <a:r>
              <a:rPr b="1" i="0" lang="en-US" sz="900" u="none" cap="none" strike="noStrike">
                <a:solidFill>
                  <a:srgbClr val="3E5A4B"/>
                </a:solidFill>
                <a:latin typeface="Geist Mono"/>
                <a:ea typeface="Geist Mono"/>
                <a:cs typeface="Geist Mono"/>
                <a:sym typeface="Geist Mono"/>
              </a:rPr>
              <a:t>COMUNICACIÓN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0"/>
          <p:cNvSpPr/>
          <p:nvPr/>
        </p:nvSpPr>
        <p:spPr>
          <a:xfrm>
            <a:off x="228600" y="1364010"/>
            <a:ext cx="4229100" cy="3978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458A6"/>
              </a:buClr>
              <a:buSzPts val="1300"/>
              <a:buFont typeface="Mukta"/>
              <a:buNone/>
            </a:pPr>
            <a:r>
              <a:rPr b="0" i="0" lang="en-US" sz="1300" u="none" cap="none" strike="noStrike">
                <a:solidFill>
                  <a:srgbClr val="1458A6"/>
                </a:solidFill>
                <a:latin typeface="Mukta"/>
                <a:ea typeface="Mukta"/>
                <a:cs typeface="Mukta"/>
                <a:sym typeface="Mukta"/>
              </a:rPr>
              <a:t>Android → Bluetooth → HC-05 → UART → STM32F407G-DISC1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0"/>
          <p:cNvSpPr/>
          <p:nvPr/>
        </p:nvSpPr>
        <p:spPr>
          <a:xfrm>
            <a:off x="4686300" y="1145828"/>
            <a:ext cx="4229100" cy="136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5A4B"/>
              </a:buClr>
              <a:buSzPts val="900"/>
              <a:buFont typeface="Geist Mono"/>
              <a:buNone/>
            </a:pPr>
            <a:r>
              <a:rPr b="1" i="0" lang="en-US" sz="900" u="none" cap="none" strike="noStrike">
                <a:solidFill>
                  <a:srgbClr val="3E5A4B"/>
                </a:solidFill>
                <a:latin typeface="Geist Mono"/>
                <a:ea typeface="Geist Mono"/>
                <a:cs typeface="Geist Mono"/>
                <a:sym typeface="Geist Mono"/>
              </a:rPr>
              <a:t>MOVIMIENTO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0"/>
          <p:cNvSpPr/>
          <p:nvPr/>
        </p:nvSpPr>
        <p:spPr>
          <a:xfrm>
            <a:off x="4686300" y="1364010"/>
            <a:ext cx="4229100" cy="3978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458A6"/>
              </a:buClr>
              <a:buSzPts val="1300"/>
              <a:buFont typeface="Mukta"/>
              <a:buNone/>
            </a:pPr>
            <a:r>
              <a:rPr b="0" i="0" lang="en-US" sz="1300" u="none" cap="none" strike="noStrike">
                <a:solidFill>
                  <a:srgbClr val="1458A6"/>
                </a:solidFill>
                <a:latin typeface="Mukta"/>
                <a:ea typeface="Mukta"/>
                <a:cs typeface="Mukta"/>
                <a:sym typeface="Mukta"/>
              </a:rPr>
              <a:t>STM32 → PWM y GPIO de dirección → puente H → dos motores DC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0"/>
          <p:cNvSpPr/>
          <p:nvPr/>
        </p:nvSpPr>
        <p:spPr>
          <a:xfrm>
            <a:off x="228600" y="2555379"/>
            <a:ext cx="4229100" cy="136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5A4B"/>
              </a:buClr>
              <a:buSzPts val="900"/>
              <a:buFont typeface="Geist Mono"/>
              <a:buNone/>
            </a:pPr>
            <a:r>
              <a:rPr b="1" i="0" lang="en-US" sz="900" u="none" cap="none" strike="noStrike">
                <a:solidFill>
                  <a:srgbClr val="3E5A4B"/>
                </a:solidFill>
                <a:latin typeface="Geist Mono"/>
                <a:ea typeface="Geist Mono"/>
                <a:cs typeface="Geist Mono"/>
                <a:sym typeface="Geist Mono"/>
              </a:rPr>
              <a:t>SENSORES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0"/>
          <p:cNvSpPr/>
          <p:nvPr/>
        </p:nvSpPr>
        <p:spPr>
          <a:xfrm>
            <a:off x="228600" y="2773561"/>
            <a:ext cx="4229100" cy="1989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C5B38"/>
              </a:buClr>
              <a:buSzPts val="1300"/>
              <a:buFont typeface="Mukta"/>
              <a:buNone/>
            </a:pPr>
            <a:r>
              <a:rPr b="0" i="0" lang="en-US" sz="1300" u="none" cap="none" strike="noStrike">
                <a:solidFill>
                  <a:srgbClr val="1C5B38"/>
                </a:solidFill>
                <a:latin typeface="Mukta"/>
                <a:ea typeface="Mukta"/>
                <a:cs typeface="Mukta"/>
                <a:sym typeface="Mukta"/>
              </a:rPr>
              <a:t>Sensores IR izquierdo y derecho → GPIO del STM32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0"/>
          <p:cNvSpPr/>
          <p:nvPr/>
        </p:nvSpPr>
        <p:spPr>
          <a:xfrm>
            <a:off x="4686300" y="2555379"/>
            <a:ext cx="4229100" cy="136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5A4B"/>
              </a:buClr>
              <a:buSzPts val="900"/>
              <a:buFont typeface="Geist Mono"/>
              <a:buNone/>
            </a:pPr>
            <a:r>
              <a:rPr b="1" i="0" lang="en-US" sz="900" u="none" cap="none" strike="noStrike">
                <a:solidFill>
                  <a:srgbClr val="3E5A4B"/>
                </a:solidFill>
                <a:latin typeface="Geist Mono"/>
                <a:ea typeface="Geist Mono"/>
                <a:cs typeface="Geist Mono"/>
                <a:sym typeface="Geist Mono"/>
              </a:rPr>
              <a:t>AGUA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0"/>
          <p:cNvSpPr/>
          <p:nvPr/>
        </p:nvSpPr>
        <p:spPr>
          <a:xfrm>
            <a:off x="4686300" y="2773561"/>
            <a:ext cx="4229100" cy="3978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458A6"/>
              </a:buClr>
              <a:buSzPts val="1300"/>
              <a:buFont typeface="Mukta"/>
              <a:buNone/>
            </a:pPr>
            <a:r>
              <a:rPr b="0" i="0" lang="en-US" sz="1300" u="none" cap="none" strike="noStrike">
                <a:solidFill>
                  <a:srgbClr val="1458A6"/>
                </a:solidFill>
                <a:latin typeface="Mukta"/>
                <a:ea typeface="Mukta"/>
                <a:cs typeface="Mukta"/>
                <a:sym typeface="Mukta"/>
              </a:rPr>
              <a:t>STM32 → GPIO → MOSFET → minibomba → manguera → boquilla fija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0"/>
          <p:cNvSpPr/>
          <p:nvPr/>
        </p:nvSpPr>
        <p:spPr>
          <a:xfrm>
            <a:off x="228600" y="3492114"/>
            <a:ext cx="4229100" cy="13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5A4B"/>
              </a:buClr>
              <a:buSzPts val="900"/>
              <a:buFont typeface="Geist Mono"/>
              <a:buNone/>
            </a:pPr>
            <a:r>
              <a:rPr b="1" i="0" lang="en-US" sz="900" u="none" cap="none" strike="noStrike">
                <a:solidFill>
                  <a:srgbClr val="3E5A4B"/>
                </a:solidFill>
                <a:latin typeface="Geist Mono"/>
                <a:ea typeface="Geist Mono"/>
                <a:cs typeface="Geist Mono"/>
                <a:sym typeface="Geist Mono"/>
              </a:rPr>
              <a:t>ALIMENTACIÓN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0"/>
          <p:cNvSpPr/>
          <p:nvPr/>
        </p:nvSpPr>
        <p:spPr>
          <a:xfrm>
            <a:off x="228600" y="3710296"/>
            <a:ext cx="4229100" cy="3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B22F1C"/>
              </a:buClr>
              <a:buSzPts val="1300"/>
              <a:buFont typeface="Mukta"/>
              <a:buNone/>
            </a:pPr>
            <a:r>
              <a:rPr b="0" i="0" lang="en-US" sz="1300" u="none" cap="none" strike="noStrike">
                <a:solidFill>
                  <a:srgbClr val="B22F1C"/>
                </a:solidFill>
                <a:latin typeface="Mukta"/>
                <a:ea typeface="Mukta"/>
                <a:cs typeface="Mukta"/>
                <a:sym typeface="Mukta"/>
              </a:rPr>
              <a:t>batería → protección y regulación → STM32, HC-05, driver y bomba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0"/>
          <p:cNvSpPr/>
          <p:nvPr/>
        </p:nvSpPr>
        <p:spPr>
          <a:xfrm>
            <a:off x="4686300" y="3472407"/>
            <a:ext cx="4229100" cy="13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5A4B"/>
              </a:buClr>
              <a:buSzPts val="900"/>
              <a:buFont typeface="Geist Mono"/>
              <a:buNone/>
            </a:pPr>
            <a:r>
              <a:rPr b="1" i="0" lang="en-US" sz="900" u="none" cap="none" strike="noStrike">
                <a:solidFill>
                  <a:srgbClr val="3E5A4B"/>
                </a:solidFill>
                <a:latin typeface="Geist Mono"/>
                <a:ea typeface="Geist Mono"/>
                <a:cs typeface="Geist Mono"/>
                <a:sym typeface="Geist Mono"/>
              </a:rPr>
              <a:t>CRITERIOS DEL DIAGRAMA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0"/>
          <p:cNvSpPr/>
          <p:nvPr/>
        </p:nvSpPr>
        <p:spPr>
          <a:xfrm>
            <a:off x="4686300" y="3651175"/>
            <a:ext cx="4229100" cy="59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300"/>
              <a:buFont typeface="Mukta"/>
              <a:buNone/>
            </a:pPr>
            <a:r>
              <a:rPr b="0" i="0" lang="en-US" sz="13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El HC-05 solo es interfaz Bluetooth; el STM32 procesa y controla. Considerar niveles lógicos de 3.3 V y verificar compatibilidad del HC-05.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0"/>
          <p:cNvSpPr/>
          <p:nvPr/>
        </p:nvSpPr>
        <p:spPr>
          <a:xfrm>
            <a:off x="4686300" y="4329450"/>
            <a:ext cx="3218100" cy="64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435F51"/>
              </a:buClr>
              <a:buSzPts val="900"/>
              <a:buFont typeface="Geist Mono Medium"/>
              <a:buNone/>
            </a:pPr>
            <a:r>
              <a:rPr b="0" i="0" lang="en-US" sz="900" u="none" cap="none" strike="noStrike">
                <a:solidFill>
                  <a:srgbClr val="435F51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Flechas azules para control, verdes para sensores, rojas para alimentación.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33150" y="4108100"/>
            <a:ext cx="1110850" cy="111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1"/>
          <p:cNvSpPr/>
          <p:nvPr/>
        </p:nvSpPr>
        <p:spPr>
          <a:xfrm>
            <a:off x="342900" y="190500"/>
            <a:ext cx="5760690" cy="6994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2500"/>
              <a:buFont typeface="Chakra Petch"/>
              <a:buNone/>
            </a:pPr>
            <a:r>
              <a:rPr b="1" i="0" lang="en-US" sz="2500" u="none" cap="none" strike="noStrike">
                <a:solidFill>
                  <a:srgbClr val="17301F"/>
                </a:solidFill>
                <a:latin typeface="Chakra Petch"/>
                <a:ea typeface="Chakra Petch"/>
                <a:cs typeface="Chakra Petch"/>
                <a:sym typeface="Chakra Petch"/>
              </a:rPr>
              <a:t>El STM32 regula los motores con PWM y detecta bordes con dos sensores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1"/>
          <p:cNvSpPr/>
          <p:nvPr/>
        </p:nvSpPr>
        <p:spPr>
          <a:xfrm>
            <a:off x="7057579" y="659532"/>
            <a:ext cx="1743521" cy="230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Geist Mono Medium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TIMERS Y GPIO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1"/>
          <p:cNvSpPr/>
          <p:nvPr/>
        </p:nvSpPr>
        <p:spPr>
          <a:xfrm>
            <a:off x="342900" y="1107877"/>
            <a:ext cx="8458200" cy="23738"/>
          </a:xfrm>
          <a:prstGeom prst="roundRect">
            <a:avLst>
              <a:gd fmla="val 50000" name="adj"/>
            </a:avLst>
          </a:prstGeom>
          <a:solidFill>
            <a:srgbClr val="1730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1"/>
          <p:cNvSpPr/>
          <p:nvPr/>
        </p:nvSpPr>
        <p:spPr>
          <a:xfrm>
            <a:off x="342900" y="1273373"/>
            <a:ext cx="4057650" cy="3077766"/>
          </a:xfrm>
          <a:prstGeom prst="rect">
            <a:avLst/>
          </a:prstGeom>
          <a:solidFill>
            <a:srgbClr val="F2EE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1"/>
          <p:cNvSpPr/>
          <p:nvPr/>
        </p:nvSpPr>
        <p:spPr>
          <a:xfrm>
            <a:off x="476250" y="1406723"/>
            <a:ext cx="3790950" cy="2472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Motores y PWM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1"/>
          <p:cNvSpPr/>
          <p:nvPr/>
        </p:nvSpPr>
        <p:spPr>
          <a:xfrm>
            <a:off x="476250" y="1838474"/>
            <a:ext cx="3790950" cy="23738"/>
          </a:xfrm>
          <a:prstGeom prst="roundRect">
            <a:avLst>
              <a:gd fmla="val 50000" name="adj"/>
            </a:avLst>
          </a:prstGeom>
          <a:solidFill>
            <a:srgbClr val="1730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"/>
          <p:cNvSpPr/>
          <p:nvPr/>
        </p:nvSpPr>
        <p:spPr>
          <a:xfrm>
            <a:off x="476250" y="2080171"/>
            <a:ext cx="3790950" cy="10534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04800" lvl="0" marL="3048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500"/>
              <a:buFont typeface="Mukta"/>
              <a:buChar char="•"/>
            </a:pPr>
            <a:r>
              <a:rPr b="0" i="0" lang="en-US" sz="15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Temporizadores del STM32 generan PWM hacia un puente H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3048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500"/>
              <a:buFont typeface="Mukta"/>
              <a:buChar char="•"/>
            </a:pPr>
            <a:r>
              <a:rPr b="0" i="0" lang="en-US" sz="15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Movimientos: avanzar, retroceder, girar izquierda, girar derecha, detenerse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1"/>
          <p:cNvSpPr/>
          <p:nvPr/>
        </p:nvSpPr>
        <p:spPr>
          <a:xfrm>
            <a:off x="476250" y="3228826"/>
            <a:ext cx="3924300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5F51"/>
              </a:buClr>
              <a:buSzPts val="1050"/>
              <a:buFont typeface="Geist Mono Medium"/>
              <a:buNone/>
            </a:pPr>
            <a:r>
              <a:rPr b="0" i="0" lang="en-US" sz="1050" u="none" cap="none" strike="noStrike">
                <a:solidFill>
                  <a:srgbClr val="435F51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2 ACTUADORES PWM: MOTOR IZQUIERDO Y DERECHO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1"/>
          <p:cNvSpPr/>
          <p:nvPr/>
        </p:nvSpPr>
        <p:spPr>
          <a:xfrm>
            <a:off x="4743450" y="1273373"/>
            <a:ext cx="4057650" cy="3077766"/>
          </a:xfrm>
          <a:prstGeom prst="rect">
            <a:avLst/>
          </a:prstGeom>
          <a:solidFill>
            <a:srgbClr val="F2EE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1"/>
          <p:cNvSpPr/>
          <p:nvPr/>
        </p:nvSpPr>
        <p:spPr>
          <a:xfrm>
            <a:off x="4876800" y="1406723"/>
            <a:ext cx="3790950" cy="2472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Sensores y detección de bordes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1"/>
          <p:cNvSpPr/>
          <p:nvPr/>
        </p:nvSpPr>
        <p:spPr>
          <a:xfrm>
            <a:off x="4876800" y="1838474"/>
            <a:ext cx="3790950" cy="23738"/>
          </a:xfrm>
          <a:prstGeom prst="roundRect">
            <a:avLst>
              <a:gd fmla="val 50000" name="adj"/>
            </a:avLst>
          </a:prstGeom>
          <a:solidFill>
            <a:srgbClr val="1730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1"/>
          <p:cNvSpPr/>
          <p:nvPr/>
        </p:nvSpPr>
        <p:spPr>
          <a:xfrm>
            <a:off x="4876800" y="2080171"/>
            <a:ext cx="3790950" cy="7543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04800" lvl="0" marL="3048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500"/>
              <a:buFont typeface="Mukta"/>
              <a:buChar char="•"/>
            </a:pPr>
            <a:r>
              <a:rPr b="0" i="0" lang="en-US" sz="15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Dos sensores IR digitales hacia la pista detectan cambios de reflectancia, previa calibración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1"/>
          <p:cNvSpPr/>
          <p:nvPr/>
        </p:nvSpPr>
        <p:spPr>
          <a:xfrm>
            <a:off x="4876800" y="2929756"/>
            <a:ext cx="3097560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5F51"/>
              </a:buClr>
              <a:buSzPts val="1050"/>
              <a:buFont typeface="Geist Mono Medium"/>
              <a:buNone/>
            </a:pPr>
            <a:r>
              <a:rPr b="0" i="0" lang="en-US" sz="1050" u="none" cap="none" strike="noStrike">
                <a:solidFill>
                  <a:srgbClr val="435F51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2 ENTRADAS DIGITALES: SENSORES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1"/>
          <p:cNvSpPr/>
          <p:nvPr/>
        </p:nvSpPr>
        <p:spPr>
          <a:xfrm>
            <a:off x="0" y="4503539"/>
            <a:ext cx="9144000" cy="639961"/>
          </a:xfrm>
          <a:prstGeom prst="rect">
            <a:avLst/>
          </a:prstGeom>
          <a:solidFill>
            <a:srgbClr val="C838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1"/>
          <p:cNvSpPr/>
          <p:nvPr/>
        </p:nvSpPr>
        <p:spPr>
          <a:xfrm>
            <a:off x="228600" y="4617839"/>
            <a:ext cx="8686800" cy="4113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Geist Mono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Geist Mono"/>
                <a:ea typeface="Geist Mono"/>
                <a:cs typeface="Geist Mono"/>
                <a:sym typeface="Geist Mono"/>
              </a:rPr>
              <a:t>ANTE UN BORDE, EL STM32 DETIENE O LIMITA LOS COMANDOS QUE SACARÍAN AL ROBOT.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2"/>
          <p:cNvSpPr/>
          <p:nvPr/>
        </p:nvSpPr>
        <p:spPr>
          <a:xfrm>
            <a:off x="342900" y="228600"/>
            <a:ext cx="2334816" cy="230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Geist Mono Medium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INTERFAZ MÓVIL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2"/>
          <p:cNvSpPr/>
          <p:nvPr/>
        </p:nvSpPr>
        <p:spPr>
          <a:xfrm>
            <a:off x="342900" y="535260"/>
            <a:ext cx="4838700" cy="6994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2500"/>
              <a:buFont typeface="Chakra Petch"/>
              <a:buNone/>
            </a:pPr>
            <a:r>
              <a:rPr b="1" i="0" lang="en-US" sz="2500" u="none" cap="none" strike="noStrike">
                <a:solidFill>
                  <a:srgbClr val="17301F"/>
                </a:solidFill>
                <a:latin typeface="Chakra Petch"/>
                <a:ea typeface="Chakra Petch"/>
                <a:cs typeface="Chakra Petch"/>
                <a:sym typeface="Chakra Petch"/>
              </a:rPr>
              <a:t>Comunicación Bluetooth e interfaz Android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2"/>
          <p:cNvSpPr/>
          <p:nvPr/>
        </p:nvSpPr>
        <p:spPr>
          <a:xfrm>
            <a:off x="342900" y="1471687"/>
            <a:ext cx="4838626" cy="23738"/>
          </a:xfrm>
          <a:prstGeom prst="roundRect">
            <a:avLst>
              <a:gd fmla="val 50000" name="adj"/>
            </a:avLst>
          </a:prstGeom>
          <a:solidFill>
            <a:srgbClr val="1730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2"/>
          <p:cNvSpPr/>
          <p:nvPr/>
        </p:nvSpPr>
        <p:spPr>
          <a:xfrm>
            <a:off x="342900" y="1713384"/>
            <a:ext cx="4838700" cy="4022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Aplicación desarrollada en entorno compatible con </a:t>
            </a:r>
            <a:r>
              <a:rPr b="1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Bluetooth SPP clásico</a:t>
            </a: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 para el intercambio continuo de tramas de control con el módulo HC-05.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2"/>
          <p:cNvSpPr/>
          <p:nvPr/>
        </p:nvSpPr>
        <p:spPr>
          <a:xfrm>
            <a:off x="342900" y="2287116"/>
            <a:ext cx="304800" cy="304800"/>
          </a:xfrm>
          <a:prstGeom prst="ellipse">
            <a:avLst/>
          </a:prstGeom>
          <a:solidFill>
            <a:srgbClr val="C8381F"/>
          </a:solidFill>
          <a:ln cap="flat" cmpd="sng" w="19050">
            <a:solidFill>
              <a:srgbClr val="D4E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2"/>
          <p:cNvSpPr/>
          <p:nvPr/>
        </p:nvSpPr>
        <p:spPr>
          <a:xfrm>
            <a:off x="452438" y="2368079"/>
            <a:ext cx="5429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DF7F0"/>
              </a:buClr>
              <a:buSzPts val="1150"/>
              <a:buFont typeface="Geist Mono"/>
              <a:buNone/>
            </a:pPr>
            <a:r>
              <a:rPr b="1" i="0" lang="en-US" sz="1150" u="none" cap="none" strike="noStrike">
                <a:solidFill>
                  <a:srgbClr val="FDF7F0"/>
                </a:solidFill>
                <a:latin typeface="Geist Mono"/>
                <a:ea typeface="Geist Mono"/>
                <a:cs typeface="Geist Mono"/>
                <a:sym typeface="Geist Mono"/>
              </a:rPr>
              <a:t>1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2"/>
          <p:cNvSpPr/>
          <p:nvPr/>
        </p:nvSpPr>
        <p:spPr>
          <a:xfrm>
            <a:off x="781050" y="2287116"/>
            <a:ext cx="4400550" cy="4022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1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Controles direccionales</a:t>
            </a: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 · Adelante, atrás, izquierda y derecha en tiempo real.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2"/>
          <p:cNvSpPr/>
          <p:nvPr/>
        </p:nvSpPr>
        <p:spPr>
          <a:xfrm>
            <a:off x="342900" y="3032299"/>
            <a:ext cx="304800" cy="304800"/>
          </a:xfrm>
          <a:prstGeom prst="ellipse">
            <a:avLst/>
          </a:prstGeom>
          <a:solidFill>
            <a:srgbClr val="C8381F"/>
          </a:solidFill>
          <a:ln cap="flat" cmpd="sng" w="19050">
            <a:solidFill>
              <a:srgbClr val="D4E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2"/>
          <p:cNvSpPr/>
          <p:nvPr/>
        </p:nvSpPr>
        <p:spPr>
          <a:xfrm>
            <a:off x="452438" y="3113261"/>
            <a:ext cx="5429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DF7F0"/>
              </a:buClr>
              <a:buSzPts val="1150"/>
              <a:buFont typeface="Geist Mono"/>
              <a:buNone/>
            </a:pPr>
            <a:r>
              <a:rPr b="1" i="0" lang="en-US" sz="1150" u="none" cap="none" strike="noStrike">
                <a:solidFill>
                  <a:srgbClr val="FDF7F0"/>
                </a:solidFill>
                <a:latin typeface="Geist Mono"/>
                <a:ea typeface="Geist Mono"/>
                <a:cs typeface="Geist Mono"/>
                <a:sym typeface="Geist Mono"/>
              </a:rPr>
              <a:t>2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2"/>
          <p:cNvSpPr/>
          <p:nvPr/>
        </p:nvSpPr>
        <p:spPr>
          <a:xfrm>
            <a:off x="781050" y="3032299"/>
            <a:ext cx="4400550" cy="4022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1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Selector de velocidad</a:t>
            </a: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 · Ajuste dinámico de duty cycle enviado por UART.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2"/>
          <p:cNvSpPr/>
          <p:nvPr/>
        </p:nvSpPr>
        <p:spPr>
          <a:xfrm>
            <a:off x="342900" y="3777481"/>
            <a:ext cx="304800" cy="304800"/>
          </a:xfrm>
          <a:prstGeom prst="ellipse">
            <a:avLst/>
          </a:prstGeom>
          <a:solidFill>
            <a:srgbClr val="C8381F"/>
          </a:solidFill>
          <a:ln cap="flat" cmpd="sng" w="19050">
            <a:solidFill>
              <a:srgbClr val="D4E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2"/>
          <p:cNvSpPr/>
          <p:nvPr/>
        </p:nvSpPr>
        <p:spPr>
          <a:xfrm>
            <a:off x="452438" y="3858444"/>
            <a:ext cx="5429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DF7F0"/>
              </a:buClr>
              <a:buSzPts val="1150"/>
              <a:buFont typeface="Geist Mono"/>
              <a:buNone/>
            </a:pPr>
            <a:r>
              <a:rPr b="1" i="0" lang="en-US" sz="1150" u="none" cap="none" strike="noStrike">
                <a:solidFill>
                  <a:srgbClr val="FDF7F0"/>
                </a:solidFill>
                <a:latin typeface="Geist Mono"/>
                <a:ea typeface="Geist Mono"/>
                <a:cs typeface="Geist Mono"/>
                <a:sym typeface="Geist Mono"/>
              </a:rPr>
              <a:t>3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2"/>
          <p:cNvSpPr/>
          <p:nvPr/>
        </p:nvSpPr>
        <p:spPr>
          <a:xfrm>
            <a:off x="781050" y="3777481"/>
            <a:ext cx="4400550" cy="4022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1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Disparo y paro de emergencia</a:t>
            </a: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 · Botón AGUA para bomba y STOP total inmediato.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2"/>
          <p:cNvSpPr/>
          <p:nvPr/>
        </p:nvSpPr>
        <p:spPr>
          <a:xfrm>
            <a:off x="342900" y="4522663"/>
            <a:ext cx="304800" cy="304800"/>
          </a:xfrm>
          <a:prstGeom prst="ellipse">
            <a:avLst/>
          </a:prstGeom>
          <a:solidFill>
            <a:srgbClr val="C8381F"/>
          </a:solidFill>
          <a:ln cap="flat" cmpd="sng" w="19050">
            <a:solidFill>
              <a:srgbClr val="D4E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2"/>
          <p:cNvSpPr/>
          <p:nvPr/>
        </p:nvSpPr>
        <p:spPr>
          <a:xfrm>
            <a:off x="452438" y="4603626"/>
            <a:ext cx="5429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DF7F0"/>
              </a:buClr>
              <a:buSzPts val="1150"/>
              <a:buFont typeface="Geist Mono"/>
              <a:buNone/>
            </a:pPr>
            <a:r>
              <a:rPr b="1" i="0" lang="en-US" sz="1150" u="none" cap="none" strike="noStrike">
                <a:solidFill>
                  <a:srgbClr val="FDF7F0"/>
                </a:solidFill>
                <a:latin typeface="Geist Mono"/>
                <a:ea typeface="Geist Mono"/>
                <a:cs typeface="Geist Mono"/>
                <a:sym typeface="Geist Mono"/>
              </a:rPr>
              <a:t>4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2"/>
          <p:cNvSpPr/>
          <p:nvPr/>
        </p:nvSpPr>
        <p:spPr>
          <a:xfrm>
            <a:off x="781050" y="4522663"/>
            <a:ext cx="4400550" cy="4022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1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Paro por pérdida de señal</a:t>
            </a: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 · Detención preventiva si cesan las tramas Bluetooth.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96" name="Google Shape;196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29300" y="342900"/>
            <a:ext cx="2971800" cy="445770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2"/>
          <p:cNvSpPr/>
          <p:nvPr/>
        </p:nvSpPr>
        <p:spPr>
          <a:xfrm>
            <a:off x="342900" y="2856086"/>
            <a:ext cx="4838700" cy="9525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2"/>
          <p:cNvSpPr/>
          <p:nvPr/>
        </p:nvSpPr>
        <p:spPr>
          <a:xfrm>
            <a:off x="342900" y="3601269"/>
            <a:ext cx="4838700" cy="9525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12"/>
          <p:cNvSpPr/>
          <p:nvPr/>
        </p:nvSpPr>
        <p:spPr>
          <a:xfrm>
            <a:off x="342900" y="4346451"/>
            <a:ext cx="4838700" cy="9525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0" name="Google Shape;200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33150" y="4032650"/>
            <a:ext cx="1110850" cy="111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3"/>
          <p:cNvSpPr/>
          <p:nvPr/>
        </p:nvSpPr>
        <p:spPr>
          <a:xfrm>
            <a:off x="342900" y="228600"/>
            <a:ext cx="2871267" cy="230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Geist Mono Medium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SISTEMA HIDRÁULICO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3"/>
          <p:cNvSpPr/>
          <p:nvPr/>
        </p:nvSpPr>
        <p:spPr>
          <a:xfrm>
            <a:off x="342900" y="535260"/>
            <a:ext cx="5143500" cy="3497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2500"/>
              <a:buFont typeface="Chakra Petch"/>
              <a:buNone/>
            </a:pPr>
            <a:r>
              <a:rPr b="1" i="0" lang="en-US" sz="2500" u="none" cap="none" strike="noStrike">
                <a:solidFill>
                  <a:srgbClr val="17301F"/>
                </a:solidFill>
                <a:latin typeface="Chakra Petch"/>
                <a:ea typeface="Chakra Petch"/>
                <a:cs typeface="Chakra Petch"/>
                <a:sym typeface="Chakra Petch"/>
              </a:rPr>
              <a:t>Módulo complementario de agua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3"/>
          <p:cNvSpPr/>
          <p:nvPr/>
        </p:nvSpPr>
        <p:spPr>
          <a:xfrm>
            <a:off x="342900" y="1121941"/>
            <a:ext cx="5143500" cy="23738"/>
          </a:xfrm>
          <a:prstGeom prst="roundRect">
            <a:avLst>
              <a:gd fmla="val 50000" name="adj"/>
            </a:avLst>
          </a:prstGeom>
          <a:solidFill>
            <a:srgbClr val="1730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3"/>
          <p:cNvSpPr/>
          <p:nvPr/>
        </p:nvSpPr>
        <p:spPr>
          <a:xfrm>
            <a:off x="342900" y="1363638"/>
            <a:ext cx="304800" cy="304800"/>
          </a:xfrm>
          <a:prstGeom prst="ellipse">
            <a:avLst/>
          </a:prstGeom>
          <a:solidFill>
            <a:srgbClr val="C8381F"/>
          </a:solidFill>
          <a:ln cap="flat" cmpd="sng" w="19050">
            <a:solidFill>
              <a:srgbClr val="D4E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3"/>
          <p:cNvSpPr/>
          <p:nvPr/>
        </p:nvSpPr>
        <p:spPr>
          <a:xfrm>
            <a:off x="452438" y="1444600"/>
            <a:ext cx="5429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DF7F0"/>
              </a:buClr>
              <a:buSzPts val="1150"/>
              <a:buFont typeface="Geist Mono"/>
              <a:buNone/>
            </a:pPr>
            <a:r>
              <a:rPr b="1" i="0" lang="en-US" sz="1150" u="none" cap="none" strike="noStrike">
                <a:solidFill>
                  <a:srgbClr val="FDF7F0"/>
                </a:solidFill>
                <a:latin typeface="Geist Mono"/>
                <a:ea typeface="Geist Mono"/>
                <a:cs typeface="Geist Mono"/>
                <a:sym typeface="Geist Mono"/>
              </a:rPr>
              <a:t>1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3"/>
          <p:cNvSpPr/>
          <p:nvPr/>
        </p:nvSpPr>
        <p:spPr>
          <a:xfrm>
            <a:off x="781050" y="1363638"/>
            <a:ext cx="4705350" cy="4022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1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Componentes</a:t>
            </a: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 · Depósito, minibomba DC, manguera, boquilla frontal, circuito MOSFET y protecciones.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3"/>
          <p:cNvSpPr/>
          <p:nvPr/>
        </p:nvSpPr>
        <p:spPr>
          <a:xfrm>
            <a:off x="342900" y="2108820"/>
            <a:ext cx="304800" cy="304800"/>
          </a:xfrm>
          <a:prstGeom prst="ellipse">
            <a:avLst/>
          </a:prstGeom>
          <a:solidFill>
            <a:srgbClr val="C8381F"/>
          </a:solidFill>
          <a:ln cap="flat" cmpd="sng" w="19050">
            <a:solidFill>
              <a:srgbClr val="D4E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3"/>
          <p:cNvSpPr/>
          <p:nvPr/>
        </p:nvSpPr>
        <p:spPr>
          <a:xfrm>
            <a:off x="452438" y="2189783"/>
            <a:ext cx="5429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DF7F0"/>
              </a:buClr>
              <a:buSzPts val="1150"/>
              <a:buFont typeface="Geist Mono"/>
              <a:buNone/>
            </a:pPr>
            <a:r>
              <a:rPr b="1" i="0" lang="en-US" sz="1150" u="none" cap="none" strike="noStrike">
                <a:solidFill>
                  <a:srgbClr val="FDF7F0"/>
                </a:solidFill>
                <a:latin typeface="Geist Mono"/>
                <a:ea typeface="Geist Mono"/>
                <a:cs typeface="Geist Mono"/>
                <a:sym typeface="Geist Mono"/>
              </a:rPr>
              <a:t>2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3"/>
          <p:cNvSpPr/>
          <p:nvPr/>
        </p:nvSpPr>
        <p:spPr>
          <a:xfrm>
            <a:off x="781050" y="2108820"/>
            <a:ext cx="4705350" cy="4022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1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Flujo</a:t>
            </a: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 · Botón AGUA → Bluetooth → HC-05 → STM32 → circuito de potencia → bomba → boquilla; al terminar la orden, la bomba se detiene.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3"/>
          <p:cNvSpPr/>
          <p:nvPr/>
        </p:nvSpPr>
        <p:spPr>
          <a:xfrm>
            <a:off x="342900" y="2854003"/>
            <a:ext cx="304800" cy="304800"/>
          </a:xfrm>
          <a:prstGeom prst="ellipse">
            <a:avLst/>
          </a:prstGeom>
          <a:solidFill>
            <a:srgbClr val="C8381F"/>
          </a:solidFill>
          <a:ln cap="flat" cmpd="sng" w="19050">
            <a:solidFill>
              <a:srgbClr val="D4E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3"/>
          <p:cNvSpPr/>
          <p:nvPr/>
        </p:nvSpPr>
        <p:spPr>
          <a:xfrm>
            <a:off x="452438" y="2934965"/>
            <a:ext cx="5429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DF7F0"/>
              </a:buClr>
              <a:buSzPts val="1150"/>
              <a:buFont typeface="Geist Mono"/>
              <a:buNone/>
            </a:pPr>
            <a:r>
              <a:rPr b="1" i="0" lang="en-US" sz="1150" u="none" cap="none" strike="noStrike">
                <a:solidFill>
                  <a:srgbClr val="FDF7F0"/>
                </a:solidFill>
                <a:latin typeface="Geist Mono"/>
                <a:ea typeface="Geist Mono"/>
                <a:cs typeface="Geist Mono"/>
                <a:sym typeface="Geist Mono"/>
              </a:rPr>
              <a:t>3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3"/>
          <p:cNvSpPr/>
          <p:nvPr/>
        </p:nvSpPr>
        <p:spPr>
          <a:xfrm>
            <a:off x="781050" y="2854003"/>
            <a:ext cx="4705350" cy="4022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1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Diseño</a:t>
            </a: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 · Boquilla fija, chorro sencillo, baja presión, un solo botón, sin servomotores ni puntería.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3"/>
          <p:cNvSpPr/>
          <p:nvPr/>
        </p:nvSpPr>
        <p:spPr>
          <a:xfrm>
            <a:off x="342900" y="3599185"/>
            <a:ext cx="304800" cy="304800"/>
          </a:xfrm>
          <a:prstGeom prst="ellipse">
            <a:avLst/>
          </a:prstGeom>
          <a:solidFill>
            <a:srgbClr val="C8381F"/>
          </a:solidFill>
          <a:ln cap="flat" cmpd="sng" w="19050">
            <a:solidFill>
              <a:srgbClr val="D4E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13"/>
          <p:cNvSpPr/>
          <p:nvPr/>
        </p:nvSpPr>
        <p:spPr>
          <a:xfrm>
            <a:off x="452438" y="3680147"/>
            <a:ext cx="5429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DF7F0"/>
              </a:buClr>
              <a:buSzPts val="1150"/>
              <a:buFont typeface="Geist Mono"/>
              <a:buNone/>
            </a:pPr>
            <a:r>
              <a:rPr b="1" i="0" lang="en-US" sz="1150" u="none" cap="none" strike="noStrike">
                <a:solidFill>
                  <a:srgbClr val="FDF7F0"/>
                </a:solidFill>
                <a:latin typeface="Geist Mono"/>
                <a:ea typeface="Geist Mono"/>
                <a:cs typeface="Geist Mono"/>
                <a:sym typeface="Geist Mono"/>
              </a:rPr>
              <a:t>4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3"/>
          <p:cNvSpPr/>
          <p:nvPr/>
        </p:nvSpPr>
        <p:spPr>
          <a:xfrm>
            <a:off x="781050" y="3599185"/>
            <a:ext cx="4705350" cy="6034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1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Seguridad</a:t>
            </a: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 · Conexiones hidráulicas alejadas de la electrónica; bomba nunca directo a un GPIO; demostraciones con objetivos inanimados en área segura.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1" name="Google Shape;22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34100" y="342900"/>
            <a:ext cx="2667000" cy="44577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13"/>
          <p:cNvSpPr/>
          <p:nvPr/>
        </p:nvSpPr>
        <p:spPr>
          <a:xfrm>
            <a:off x="342900" y="1932608"/>
            <a:ext cx="5143500" cy="9525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3"/>
          <p:cNvSpPr/>
          <p:nvPr/>
        </p:nvSpPr>
        <p:spPr>
          <a:xfrm>
            <a:off x="342900" y="2677790"/>
            <a:ext cx="5143500" cy="9525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3"/>
          <p:cNvSpPr/>
          <p:nvPr/>
        </p:nvSpPr>
        <p:spPr>
          <a:xfrm>
            <a:off x="342900" y="3422972"/>
            <a:ext cx="5143500" cy="9525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25" name="Google Shape;22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33150" y="4032650"/>
            <a:ext cx="1110850" cy="111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4"/>
          <p:cNvSpPr/>
          <p:nvPr/>
        </p:nvSpPr>
        <p:spPr>
          <a:xfrm>
            <a:off x="342900" y="114300"/>
            <a:ext cx="8458200" cy="3497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2500"/>
              <a:buFont typeface="Chakra Petch"/>
              <a:buNone/>
            </a:pPr>
            <a:r>
              <a:rPr b="1" i="0" lang="en-US" sz="2500" u="none" cap="none" strike="noStrike">
                <a:solidFill>
                  <a:srgbClr val="17301F"/>
                </a:solidFill>
                <a:latin typeface="Chakra Petch"/>
                <a:ea typeface="Chakra Petch"/>
                <a:cs typeface="Chakra Petch"/>
                <a:sym typeface="Chakra Petch"/>
              </a:rPr>
              <a:t>Componentes necesarios y viabilidad técnica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4"/>
          <p:cNvSpPr/>
          <p:nvPr/>
        </p:nvSpPr>
        <p:spPr>
          <a:xfrm>
            <a:off x="342900" y="700980"/>
            <a:ext cx="8458200" cy="23738"/>
          </a:xfrm>
          <a:prstGeom prst="roundRect">
            <a:avLst>
              <a:gd fmla="val 50000" name="adj"/>
            </a:avLst>
          </a:prstGeom>
          <a:solidFill>
            <a:srgbClr val="1730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14"/>
          <p:cNvSpPr/>
          <p:nvPr/>
        </p:nvSpPr>
        <p:spPr>
          <a:xfrm>
            <a:off x="342900" y="942677"/>
            <a:ext cx="8458200" cy="6034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Viable por usar tecnologías conocidas (STM32, UART, Bluetooth clásico, PWM, sensores digitales) y la experiencia previa en las prácticas. Por verificar: corriente del driver, capacidad de batería, tensiones y sensores sobre la pista. Presupuesto: pendiente de cotizaciones y selección definitiva. Sin cifras.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34" name="Google Shape;234;p14"/>
          <p:cNvGraphicFramePr/>
          <p:nvPr/>
        </p:nvGraphicFramePr>
        <p:xfrm>
          <a:off x="342900" y="162230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{09EAF370-753F-45E0-B635-B15873B5B262}</a:tableStyleId>
              </a:tblPr>
              <a:tblGrid>
                <a:gridCol w="2875725"/>
                <a:gridCol w="1353300"/>
                <a:gridCol w="4229175"/>
              </a:tblGrid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DF7F0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FDF7F0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Componente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1C423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C423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C423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C423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DF7F0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FDF7F0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Cantidad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1C423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C423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C423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C423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DF7F0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FDF7F0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Función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1C423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C423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C423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C4232"/>
                    </a:solidFill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STM32F407G-DISC1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1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Control principal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Bluetooth HC-05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1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Comunicación con Android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Motores DC con reductora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2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Desplazamiento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Driver puente H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1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Control de motores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Sensores infrarrojos digitales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2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Detección de bordes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Minibomba de agua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1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Impulsar agua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Depósito de agua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1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Almacenar agua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Manguera y boquilla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1 conjunto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Conducir y expulsar agua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MOSFET y protecciones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1 conjunto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Control eléctrico de la bomba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Batería recargable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1 conjunto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Alimentación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Reguladores de voltaje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Según diseño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Adaptar alimentación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Chasis con cuña frontal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1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Soporte mecánico y empuje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Ruedas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2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Tracción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Cables y conectores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Varios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Conexiones eléctricas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id="235" name="Google Shape;23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33150" y="4032650"/>
            <a:ext cx="1110850" cy="111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
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1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5143500" cx="9144000"/>
  <p:notesSz cx="5143500" cy="9144000"/>
  <p:embeddedFontLst>
    <p:embeddedFont>
      <p:font typeface="Parkinsans"/>
      <p:bold r:id="rId15"/>
    </p:embeddedFont>
    <p:embeddedFont>
      <p:font typeface="Reddit Mono Medium"/>
      <p:regular r:id="rId16"/>
      <p:bold r:id="rId17"/>
    </p:embeddedFont>
    <p:embeddedFont>
      <p:font typeface="Reddit Sans"/>
      <p:regular r:id="rId18"/>
      <p:bold r:id="rId19"/>
      <p:italic r:id="rId20"/>
      <p:boldItalic r:id="rId21"/>
    </p:embeddedFont>
    <p:embeddedFont>
      <p:font typeface="Reddit Sans Medium"/>
      <p:regular r:id="rId22"/>
      <p:bold r:id="rId23"/>
      <p:italic r:id="rId24"/>
      <p:boldItalic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7E1EBFA-1DD8-40F3-9E00-23D77B50473C}">
  <a:tblStyle styleId="{C7E1EBFA-1DD8-40F3-9E00-23D77B50473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RedditSans-italic.fntdata"/><Relationship Id="rId22" Type="http://schemas.openxmlformats.org/officeDocument/2006/relationships/font" Target="fonts/RedditSansMedium-regular.fntdata"/><Relationship Id="rId21" Type="http://schemas.openxmlformats.org/officeDocument/2006/relationships/font" Target="fonts/RedditSans-boldItalic.fntdata"/><Relationship Id="rId24" Type="http://schemas.openxmlformats.org/officeDocument/2006/relationships/font" Target="fonts/RedditSansMedium-italic.fntdata"/><Relationship Id="rId23" Type="http://schemas.openxmlformats.org/officeDocument/2006/relationships/font" Target="fonts/RedditSansMedium-bold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RedditSansMedium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font" Target="fonts/Parkinsans-bold.fntdata"/><Relationship Id="rId14" Type="http://schemas.openxmlformats.org/officeDocument/2006/relationships/slide" Target="slides/slide9.xml"/><Relationship Id="rId17" Type="http://schemas.openxmlformats.org/officeDocument/2006/relationships/font" Target="fonts/RedditMonoMedium-bold.fntdata"/><Relationship Id="rId16" Type="http://schemas.openxmlformats.org/officeDocument/2006/relationships/font" Target="fonts/RedditMonoMedium-regular.fntdata"/><Relationship Id="rId19" Type="http://schemas.openxmlformats.org/officeDocument/2006/relationships/font" Target="fonts/RedditSans-bold.fntdata"/><Relationship Id="rId18" Type="http://schemas.openxmlformats.org/officeDocument/2006/relationships/font" Target="fonts/RedditSans-regular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" name="Google Shape;18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Presentación de la Etapa 1 del Proyecto Final de Sistemas Embebidos para el grupo LIME01-C3 en la UTEQ. Se presenta el diseño e implementación preliminar de un robot de sumo controlado por smartphone con microcontrolador STM32F407G-DISC1 y eyector de agua.</a:t>
            </a:r>
            <a:endParaRPr/>
          </a:p>
        </p:txBody>
      </p:sp>
      <p:sp>
        <p:nvSpPr>
          <p:cNvPr id="19" name="Google Shape;19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" name="Google Shape;33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Resaltar los tres ejes: marco teórico, problemática técnica multicomponente y justificación curricular fundamentada en las prácticas de laboratorio 7 y 8.</a:t>
            </a:r>
            <a:endParaRPr/>
          </a:p>
        </p:txBody>
      </p:sp>
      <p:sp>
        <p:nvSpPr>
          <p:cNvPr id="34" name="Google Shape;34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9" name="Google Shape;59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Revisar punto a punto la correspondencia entre las especificaciones solicitadas en la rúbrica y los subsistemas asignados a la placa STM32.</a:t>
            </a:r>
            <a:endParaRPr/>
          </a:p>
        </p:txBody>
      </p:sp>
      <p:sp>
        <p:nvSpPr>
          <p:cNvPr id="60" name="Google Shape;60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" name="Google Shape;7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Explicar el flujo de señales: comando del operador vía UART, procesamiento central y despacho hacia la etapa de potencia o respuesta ante sensores perimetrales.</a:t>
            </a:r>
            <a:endParaRPr/>
          </a:p>
        </p:txBody>
      </p:sp>
      <p:sp>
        <p:nvSpPr>
          <p:cNvPr id="73" name="Google Shape;73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Destacar que no se usan servomotores ni torretas móviles: la boquilla es estática y el apuntamiento se realiza girando el propio chasis del robot.</a:t>
            </a:r>
            <a:endParaRPr/>
          </a:p>
        </p:txBody>
      </p:sp>
      <p:sp>
        <p:nvSpPr>
          <p:cNvPr id="117" name="Google Shape;117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8" name="Google Shape;14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2" name="Google Shape;162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Aclarar expresamente que los costos están en fase de cotización comercial y se buscará reutilizar la tarjeta de desarrollo STM32 para abaratar costos.</a:t>
            </a:r>
            <a:endParaRPr/>
          </a:p>
        </p:txBody>
      </p:sp>
      <p:sp>
        <p:nvSpPr>
          <p:cNvPr id="163" name="Google Shape;163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1" name="Google Shape;181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Presentar el diagrama de Gantt destacando los dos hitos de control: 22 de noviembre (módulos probados) y 6 de diciembre (integración al 100%).</a:t>
            </a:r>
            <a:endParaRPr/>
          </a:p>
        </p:txBody>
      </p:sp>
      <p:sp>
        <p:nvSpPr>
          <p:cNvPr id="182" name="Google Shape;182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8" name="Google Shape;20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Concluir la presentación reiterando que la propuesta se encuentra documentada y lista para pasar a construcción. La experiencia de las prácticas 7 y 8 no prueba que el robot final funcione.</a:t>
            </a:r>
            <a:endParaRPr/>
          </a:p>
        </p:txBody>
      </p:sp>
      <p:sp>
        <p:nvSpPr>
          <p:cNvPr id="209" name="Google Shape;209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master 1">
  <p:cSld name="Slide master 1">
    <p:bg>
      <p:bgPr>
        <a:solidFill>
          <a:srgbClr val="FFFFFF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1" name="Google Shape;11;p2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29180" y="4844491"/>
            <a:ext cx="1071843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master 2">
  <p:cSld name="Slide master 2">
    <p:bg>
      <p:bgPr>
        <a:solidFill>
          <a:srgbClr val="FFFFFF"/>
        </a:solidFill>
      </p:bgPr>
    </p:bg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3"/>
          <p:cNvSpPr/>
          <p:nvPr/>
        </p:nvSpPr>
        <p:spPr>
          <a:xfrm>
            <a:off x="0" y="0"/>
            <a:ext cx="8991600" cy="5143500"/>
          </a:xfrm>
          <a:prstGeom prst="rect">
            <a:avLst/>
          </a:prstGeom>
          <a:solidFill>
            <a:srgbClr val="101A3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4" name="Google Shape;14;p3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29180" y="4844491"/>
            <a:ext cx="1071843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7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3.png"/><Relationship Id="rId7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Relationship Id="rId4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/>
          <p:nvPr/>
        </p:nvSpPr>
        <p:spPr>
          <a:xfrm>
            <a:off x="0" y="0"/>
            <a:ext cx="5638800" cy="5143500"/>
          </a:xfrm>
          <a:prstGeom prst="rect">
            <a:avLst/>
          </a:prstGeom>
          <a:solidFill>
            <a:srgbClr val="101A3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" name="Google Shape;22;p5"/>
          <p:cNvSpPr/>
          <p:nvPr/>
        </p:nvSpPr>
        <p:spPr>
          <a:xfrm>
            <a:off x="495300" y="457200"/>
            <a:ext cx="4301803" cy="190500"/>
          </a:xfrm>
          <a:prstGeom prst="roundRect">
            <a:avLst>
              <a:gd fmla="val 50000" name="adj"/>
            </a:avLst>
          </a:prstGeom>
          <a:solidFill>
            <a:srgbClr val="1F4FE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" name="Google Shape;23;p5"/>
          <p:cNvSpPr/>
          <p:nvPr/>
        </p:nvSpPr>
        <p:spPr>
          <a:xfrm>
            <a:off x="590550" y="494109"/>
            <a:ext cx="4568503" cy="1238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Reddit Mono Medium"/>
              <a:buNone/>
            </a:pPr>
            <a:r>
              <a:rPr b="0" i="0" lang="en-US" sz="950" u="none" cap="none" strike="noStrike">
                <a:solidFill>
                  <a:srgbClr val="FFFFFF"/>
                </a:solidFill>
                <a:latin typeface="Reddit Mono Medium"/>
                <a:ea typeface="Reddit Mono Medium"/>
                <a:cs typeface="Reddit Mono Medium"/>
                <a:sym typeface="Reddit Mono Medium"/>
              </a:rPr>
              <a:t>PROYECTO FINAL · ETAPA 1 · LIME01-C3 · SISTEMAS EMBEBIDOS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5"/>
          <p:cNvSpPr/>
          <p:nvPr/>
        </p:nvSpPr>
        <p:spPr>
          <a:xfrm>
            <a:off x="495300" y="1370781"/>
            <a:ext cx="4800600" cy="11733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50"/>
              <a:buFont typeface="Parkinsans"/>
              <a:buNone/>
            </a:pPr>
            <a:r>
              <a:rPr b="1" i="0" lang="en-US" sz="2050" u="none" cap="none" strike="noStrike">
                <a:solidFill>
                  <a:srgbClr val="FFFFFF"/>
                </a:solidFill>
                <a:latin typeface="Parkinsans"/>
                <a:ea typeface="Parkinsans"/>
                <a:cs typeface="Parkinsans"/>
                <a:sym typeface="Parkinsans"/>
              </a:rPr>
              <a:t>Diseño e Implementación de un Robot de Sumo Controlado por Smartphone mediante STM32 con Sistema de Lanzamiento de Agua</a:t>
            </a:r>
            <a:endParaRPr b="0" i="0" sz="2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p5"/>
          <p:cNvSpPr/>
          <p:nvPr/>
        </p:nvSpPr>
        <p:spPr>
          <a:xfrm>
            <a:off x="495300" y="2696542"/>
            <a:ext cx="5143500" cy="1800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Reddit Sans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Reddit Sans"/>
                <a:ea typeface="Reddit Sans"/>
                <a:cs typeface="Reddit Sans"/>
                <a:sym typeface="Reddit Sans"/>
              </a:rPr>
              <a:t>Universidad Tecnológica de Querétaro (UTEQ) · Septiembre–Diciembre 2026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5"/>
          <p:cNvSpPr/>
          <p:nvPr/>
        </p:nvSpPr>
        <p:spPr>
          <a:xfrm>
            <a:off x="495300" y="4705424"/>
            <a:ext cx="4800600" cy="38100"/>
          </a:xfrm>
          <a:prstGeom prst="rect">
            <a:avLst/>
          </a:prstGeom>
          <a:solidFill>
            <a:srgbClr val="1F4FE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" name="Google Shape;27;p5"/>
          <p:cNvSpPr/>
          <p:nvPr/>
        </p:nvSpPr>
        <p:spPr>
          <a:xfrm>
            <a:off x="495300" y="3599631"/>
            <a:ext cx="4800600" cy="9914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Reddit Sans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Reddit Sans"/>
                <a:ea typeface="Reddit Sans"/>
                <a:cs typeface="Reddit Sans"/>
                <a:sym typeface="Reddit Sans"/>
              </a:rPr>
              <a:t>Integrantes del equipo: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7000"/>
              </a:lnSpc>
              <a:spcBef>
                <a:spcPts val="70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Reddit Sans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Reddit Sans"/>
                <a:ea typeface="Reddit Sans"/>
                <a:cs typeface="Reddit Sans"/>
                <a:sym typeface="Reddit Sans"/>
              </a:rPr>
              <a:t>TELLO GARCIA EDGAR JOEL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7000"/>
              </a:lnSpc>
              <a:spcBef>
                <a:spcPts val="70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Reddit Sans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Reddit Sans"/>
                <a:ea typeface="Reddit Sans"/>
                <a:cs typeface="Reddit Sans"/>
                <a:sym typeface="Reddit Sans"/>
              </a:rPr>
              <a:t>SANCHEZ PEREA ALAN SALVADOR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7000"/>
              </a:lnSpc>
              <a:spcBef>
                <a:spcPts val="70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Reddit Sans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Reddit Sans"/>
                <a:ea typeface="Reddit Sans"/>
                <a:cs typeface="Reddit Sans"/>
                <a:sym typeface="Reddit Sans"/>
              </a:rPr>
              <a:t>RAMIREZ PEGUEROS LUIS ALBERTO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5"/>
          <p:cNvSpPr/>
          <p:nvPr/>
        </p:nvSpPr>
        <p:spPr>
          <a:xfrm>
            <a:off x="5638800" y="0"/>
            <a:ext cx="3505200" cy="5143500"/>
          </a:xfrm>
          <a:prstGeom prst="rect">
            <a:avLst/>
          </a:prstGeom>
          <a:solidFill>
            <a:srgbClr val="101A3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9" name="Google Shape;29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638800" y="0"/>
            <a:ext cx="35052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5"/>
          <p:cNvSpPr/>
          <p:nvPr/>
        </p:nvSpPr>
        <p:spPr>
          <a:xfrm>
            <a:off x="5295900" y="4591050"/>
            <a:ext cx="190500" cy="190500"/>
          </a:xfrm>
          <a:prstGeom prst="ellipse">
            <a:avLst/>
          </a:prstGeom>
          <a:solidFill>
            <a:srgbClr val="FFFFFF"/>
          </a:solidFill>
          <a:ln cap="flat" cmpd="sng" w="50800">
            <a:solidFill>
              <a:srgbClr val="1F4F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6"/>
          <p:cNvSpPr/>
          <p:nvPr/>
        </p:nvSpPr>
        <p:spPr>
          <a:xfrm>
            <a:off x="457200" y="304800"/>
            <a:ext cx="1200299" cy="190500"/>
          </a:xfrm>
          <a:prstGeom prst="roundRect">
            <a:avLst>
              <a:gd fmla="val 50000" name="adj"/>
            </a:avLst>
          </a:prstGeom>
          <a:solidFill>
            <a:srgbClr val="1F4FE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6"/>
          <p:cNvSpPr/>
          <p:nvPr/>
        </p:nvSpPr>
        <p:spPr>
          <a:xfrm>
            <a:off x="552450" y="341709"/>
            <a:ext cx="1466999" cy="1238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Reddit Mono Medium"/>
              <a:buNone/>
            </a:pPr>
            <a:r>
              <a:rPr b="0" i="0" lang="en-US" sz="950" u="none" cap="none" strike="noStrike">
                <a:solidFill>
                  <a:srgbClr val="FFFFFF"/>
                </a:solidFill>
                <a:latin typeface="Reddit Mono Medium"/>
                <a:ea typeface="Reddit Mono Medium"/>
                <a:cs typeface="Reddit Mono Medium"/>
                <a:sym typeface="Reddit Mono Medium"/>
              </a:rPr>
              <a:t>FUNDAMENTACIÓN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6"/>
          <p:cNvSpPr/>
          <p:nvPr/>
        </p:nvSpPr>
        <p:spPr>
          <a:xfrm>
            <a:off x="457200" y="590550"/>
            <a:ext cx="8229600" cy="6171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2200"/>
              <a:buFont typeface="Parkinsans"/>
              <a:buNone/>
            </a:pPr>
            <a:r>
              <a:rPr b="1" i="0" lang="en-US" sz="2200" u="none" cap="none" strike="noStrike">
                <a:solidFill>
                  <a:srgbClr val="101A3A"/>
                </a:solidFill>
                <a:latin typeface="Parkinsans"/>
                <a:ea typeface="Parkinsans"/>
                <a:cs typeface="Parkinsans"/>
                <a:sym typeface="Parkinsans"/>
              </a:rPr>
              <a:t>Un robot móvil exige resolver seis retos de sistemas embebidos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6"/>
          <p:cNvSpPr/>
          <p:nvPr/>
        </p:nvSpPr>
        <p:spPr>
          <a:xfrm>
            <a:off x="457200" y="1360140"/>
            <a:ext cx="2590800" cy="57150"/>
          </a:xfrm>
          <a:prstGeom prst="rect">
            <a:avLst/>
          </a:prstGeom>
          <a:solidFill>
            <a:srgbClr val="1F4FE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" name="Google Shape;40;p6"/>
          <p:cNvSpPr/>
          <p:nvPr/>
        </p:nvSpPr>
        <p:spPr>
          <a:xfrm>
            <a:off x="628650" y="1531590"/>
            <a:ext cx="334789" cy="190500"/>
          </a:xfrm>
          <a:prstGeom prst="roundRect">
            <a:avLst>
              <a:gd fmla="val 50000" name="adj"/>
            </a:avLst>
          </a:prstGeom>
          <a:solidFill>
            <a:srgbClr val="1F4FE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" name="Google Shape;41;p6"/>
          <p:cNvSpPr/>
          <p:nvPr/>
        </p:nvSpPr>
        <p:spPr>
          <a:xfrm>
            <a:off x="723900" y="1568499"/>
            <a:ext cx="601489" cy="1238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Reddit Mono Medium"/>
              <a:buNone/>
            </a:pPr>
            <a:r>
              <a:rPr b="0" i="0" lang="en-US" sz="950" u="none" cap="none" strike="noStrike">
                <a:solidFill>
                  <a:srgbClr val="FFFFFF"/>
                </a:solidFill>
                <a:latin typeface="Reddit Mono Medium"/>
                <a:ea typeface="Reddit Mono Medium"/>
                <a:cs typeface="Reddit Mono Medium"/>
                <a:sym typeface="Reddit Mono Medium"/>
              </a:rPr>
              <a:t>01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6"/>
          <p:cNvSpPr/>
          <p:nvPr/>
        </p:nvSpPr>
        <p:spPr>
          <a:xfrm>
            <a:off x="628650" y="1784003"/>
            <a:ext cx="2266950" cy="23522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400"/>
              <a:buFont typeface="Reddit Sans Medium"/>
              <a:buNone/>
            </a:pPr>
            <a:r>
              <a:rPr b="0" i="0" lang="en-US" sz="1400" u="none" cap="none" strike="noStrike">
                <a:solidFill>
                  <a:srgbClr val="101A3A"/>
                </a:solidFill>
                <a:latin typeface="Reddit Sans Medium"/>
                <a:ea typeface="Reddit Sans Medium"/>
                <a:cs typeface="Reddit Sans Medium"/>
                <a:sym typeface="Reddit Sans Medium"/>
              </a:rPr>
              <a:t>Introducción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6"/>
          <p:cNvSpPr/>
          <p:nvPr/>
        </p:nvSpPr>
        <p:spPr>
          <a:xfrm>
            <a:off x="628650" y="2128763"/>
            <a:ext cx="2266950" cy="9000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000"/>
              <a:buFont typeface="Reddit Sans"/>
              <a:buNone/>
            </a:pPr>
            <a:r>
              <a:rPr b="0" i="0" lang="en-US" sz="1000" u="none" cap="none" strike="noStrike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Los sistemas embebidos controlan dispositivos mediante microcontroladores; en robótica móvil integran sensores, actuadores y comunicación.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6"/>
          <p:cNvSpPr/>
          <p:nvPr/>
        </p:nvSpPr>
        <p:spPr>
          <a:xfrm>
            <a:off x="628650" y="4222477"/>
            <a:ext cx="2266950" cy="54002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000"/>
              <a:buFont typeface="Reddit Sans"/>
              <a:buNone/>
            </a:pPr>
            <a:r>
              <a:rPr b="1" i="0" lang="en-US" sz="1000" u="none" cap="none" strike="noStrike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Solución:</a:t>
            </a:r>
            <a:r>
              <a:rPr b="0" i="0" lang="en-US" sz="1000" u="none" cap="none" strike="noStrike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Robot de sumo controlado por Bluetooth desde Android con STM32F407.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6"/>
          <p:cNvSpPr/>
          <p:nvPr/>
        </p:nvSpPr>
        <p:spPr>
          <a:xfrm>
            <a:off x="3276600" y="1360140"/>
            <a:ext cx="2590800" cy="57150"/>
          </a:xfrm>
          <a:prstGeom prst="rect">
            <a:avLst/>
          </a:prstGeom>
          <a:solidFill>
            <a:srgbClr val="FF842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" name="Google Shape;46;p6"/>
          <p:cNvSpPr/>
          <p:nvPr/>
        </p:nvSpPr>
        <p:spPr>
          <a:xfrm>
            <a:off x="3448050" y="1531590"/>
            <a:ext cx="334789" cy="190500"/>
          </a:xfrm>
          <a:prstGeom prst="roundRect">
            <a:avLst>
              <a:gd fmla="val 50000" name="adj"/>
            </a:avLst>
          </a:prstGeom>
          <a:solidFill>
            <a:srgbClr val="FF842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" name="Google Shape;47;p6"/>
          <p:cNvSpPr/>
          <p:nvPr/>
        </p:nvSpPr>
        <p:spPr>
          <a:xfrm>
            <a:off x="3543300" y="1568499"/>
            <a:ext cx="601489" cy="1238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Reddit Mono Medium"/>
              <a:buNone/>
            </a:pPr>
            <a:r>
              <a:rPr b="0" i="0" lang="en-US" sz="950" u="none" cap="none" strike="noStrike">
                <a:solidFill>
                  <a:srgbClr val="000000"/>
                </a:solidFill>
                <a:latin typeface="Reddit Mono Medium"/>
                <a:ea typeface="Reddit Mono Medium"/>
                <a:cs typeface="Reddit Mono Medium"/>
                <a:sym typeface="Reddit Mono Medium"/>
              </a:rPr>
              <a:t>02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6"/>
          <p:cNvSpPr/>
          <p:nvPr/>
        </p:nvSpPr>
        <p:spPr>
          <a:xfrm>
            <a:off x="3448050" y="1784003"/>
            <a:ext cx="2266950" cy="23522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400"/>
              <a:buFont typeface="Reddit Sans Medium"/>
              <a:buNone/>
            </a:pPr>
            <a:r>
              <a:rPr b="0" i="0" lang="en-US" sz="1400" u="none" cap="none" strike="noStrike">
                <a:solidFill>
                  <a:srgbClr val="101A3A"/>
                </a:solidFill>
                <a:latin typeface="Reddit Sans Medium"/>
                <a:ea typeface="Reddit Sans Medium"/>
                <a:cs typeface="Reddit Sans Medium"/>
                <a:sym typeface="Reddit Sans Medium"/>
              </a:rPr>
              <a:t>Problemática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6"/>
          <p:cNvSpPr/>
          <p:nvPr/>
        </p:nvSpPr>
        <p:spPr>
          <a:xfrm>
            <a:off x="3448050" y="2128763"/>
            <a:ext cx="2419350" cy="1800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000"/>
              <a:buFont typeface="Reddit Sans"/>
              <a:buNone/>
            </a:pPr>
            <a:r>
              <a:rPr b="0" i="0" lang="en-US" sz="1000" u="none" cap="none" strike="noStrike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Seis retos de sistemas embebidos: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6"/>
          <p:cNvSpPr/>
          <p:nvPr/>
        </p:nvSpPr>
        <p:spPr>
          <a:xfrm>
            <a:off x="3448050" y="2399258"/>
            <a:ext cx="2266950" cy="17829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43840" lvl="0" marL="243840" marR="0" rtl="0"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200"/>
              <a:buFont typeface="Reddit Sans"/>
              <a:buChar char="•"/>
            </a:pPr>
            <a:r>
              <a:rPr b="0" i="0" lang="en-US" sz="1200" u="none" cap="none" strike="noStrike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Control independiente de motores y comunicación inalámbrica confiable.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43840" lvl="0" marL="243840" marR="0" rtl="0"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200"/>
              <a:buFont typeface="Reddit Sans"/>
              <a:buChar char="•"/>
            </a:pPr>
            <a:r>
              <a:rPr b="0" i="0" lang="en-US" sz="1200" u="none" cap="none" strike="noStrike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Sensores digitales y detección de límites de pista.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43840" lvl="0" marL="243840" marR="0" rtl="0"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200"/>
              <a:buFont typeface="Reddit Sans"/>
              <a:buChar char="•"/>
            </a:pPr>
            <a:r>
              <a:rPr b="0" i="0" lang="en-US" sz="1200" u="none" cap="none" strike="noStrike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Integración de actuadores, alimentación y protección de componentes.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6"/>
          <p:cNvSpPr/>
          <p:nvPr/>
        </p:nvSpPr>
        <p:spPr>
          <a:xfrm>
            <a:off x="6096000" y="1360140"/>
            <a:ext cx="2590800" cy="57150"/>
          </a:xfrm>
          <a:prstGeom prst="rect">
            <a:avLst/>
          </a:prstGeom>
          <a:solidFill>
            <a:srgbClr val="12813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p6"/>
          <p:cNvSpPr/>
          <p:nvPr/>
        </p:nvSpPr>
        <p:spPr>
          <a:xfrm>
            <a:off x="6267450" y="1531590"/>
            <a:ext cx="334789" cy="190500"/>
          </a:xfrm>
          <a:prstGeom prst="roundRect">
            <a:avLst>
              <a:gd fmla="val 50000" name="adj"/>
            </a:avLst>
          </a:prstGeom>
          <a:solidFill>
            <a:srgbClr val="12813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" name="Google Shape;53;p6"/>
          <p:cNvSpPr/>
          <p:nvPr/>
        </p:nvSpPr>
        <p:spPr>
          <a:xfrm>
            <a:off x="6362700" y="1568499"/>
            <a:ext cx="601489" cy="1238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Reddit Mono Medium"/>
              <a:buNone/>
            </a:pPr>
            <a:r>
              <a:rPr b="0" i="0" lang="en-US" sz="950" u="none" cap="none" strike="noStrike">
                <a:solidFill>
                  <a:srgbClr val="FFFFFF"/>
                </a:solidFill>
                <a:latin typeface="Reddit Mono Medium"/>
                <a:ea typeface="Reddit Mono Medium"/>
                <a:cs typeface="Reddit Mono Medium"/>
                <a:sym typeface="Reddit Mono Medium"/>
              </a:rPr>
              <a:t>03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6"/>
          <p:cNvSpPr/>
          <p:nvPr/>
        </p:nvSpPr>
        <p:spPr>
          <a:xfrm>
            <a:off x="6267450" y="1784003"/>
            <a:ext cx="2266950" cy="23522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400"/>
              <a:buFont typeface="Reddit Sans Medium"/>
              <a:buNone/>
            </a:pPr>
            <a:r>
              <a:rPr b="0" i="0" lang="en-US" sz="1400" u="none" cap="none" strike="noStrike">
                <a:solidFill>
                  <a:srgbClr val="101A3A"/>
                </a:solidFill>
                <a:latin typeface="Reddit Sans Medium"/>
                <a:ea typeface="Reddit Sans Medium"/>
                <a:cs typeface="Reddit Sans Medium"/>
                <a:sym typeface="Reddit Sans Medium"/>
              </a:rPr>
              <a:t>Justificación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6"/>
          <p:cNvSpPr/>
          <p:nvPr/>
        </p:nvSpPr>
        <p:spPr>
          <a:xfrm>
            <a:off x="6267450" y="2128763"/>
            <a:ext cx="2266950" cy="9000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000"/>
              <a:buFont typeface="Reddit Sans"/>
              <a:buNone/>
            </a:pPr>
            <a:r>
              <a:rPr b="0" i="0" lang="en-US" sz="1000" u="none" cap="none" strike="noStrike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Aplica lo aprendido en las prácticas 7 y 8 con la misma STM32F407G-DISC1. El Bluetooth da control inalámbrico, los sensores de borde dan seguridad y la minibomba añade un actuador extra.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6" name="Google Shape;56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45075" y="4102225"/>
            <a:ext cx="1041275" cy="1041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7"/>
          <p:cNvSpPr/>
          <p:nvPr/>
        </p:nvSpPr>
        <p:spPr>
          <a:xfrm>
            <a:off x="304800" y="190500"/>
            <a:ext cx="1633091" cy="190500"/>
          </a:xfrm>
          <a:prstGeom prst="roundRect">
            <a:avLst>
              <a:gd fmla="val 50000" name="adj"/>
            </a:avLst>
          </a:prstGeom>
          <a:solidFill>
            <a:srgbClr val="1F4FE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7"/>
          <p:cNvSpPr/>
          <p:nvPr/>
        </p:nvSpPr>
        <p:spPr>
          <a:xfrm>
            <a:off x="400050" y="227409"/>
            <a:ext cx="1899791" cy="1238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Reddit Mono Medium"/>
              <a:buNone/>
            </a:pPr>
            <a:r>
              <a:rPr b="0" i="0" lang="en-US" sz="950" u="none" cap="none" strike="noStrike">
                <a:solidFill>
                  <a:srgbClr val="FFFFFF"/>
                </a:solidFill>
                <a:latin typeface="Reddit Mono Medium"/>
                <a:ea typeface="Reddit Mono Medium"/>
                <a:cs typeface="Reddit Mono Medium"/>
                <a:sym typeface="Reddit Mono Medium"/>
              </a:rPr>
              <a:t>CUMPLIMIENTO TÉCNICO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7"/>
          <p:cNvSpPr/>
          <p:nvPr/>
        </p:nvSpPr>
        <p:spPr>
          <a:xfrm>
            <a:off x="304800" y="476250"/>
            <a:ext cx="8534400" cy="6171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2200"/>
              <a:buFont typeface="Parkinsans"/>
              <a:buNone/>
            </a:pPr>
            <a:r>
              <a:rPr b="1" i="0" lang="en-US" sz="2200" u="none" cap="none" strike="noStrike">
                <a:solidFill>
                  <a:srgbClr val="101A3A"/>
                </a:solidFill>
                <a:latin typeface="Parkinsans"/>
                <a:ea typeface="Parkinsans"/>
                <a:cs typeface="Parkinsans"/>
                <a:sym typeface="Parkinsans"/>
              </a:rPr>
              <a:t>El proyecto cumple los requisitos del profesor con la STM32F407G-DISC1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7"/>
          <p:cNvSpPr/>
          <p:nvPr/>
        </p:nvSpPr>
        <p:spPr>
          <a:xfrm>
            <a:off x="304800" y="1245840"/>
            <a:ext cx="4210050" cy="8533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200"/>
              <a:buFont typeface="Reddit Sans"/>
              <a:buNone/>
            </a:pPr>
            <a:r>
              <a:rPr b="0" i="0" lang="en-US" sz="1200" u="none" cap="none" strike="noStrike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Objetivo general: diseñar, construir y programar un robot tipo sumo con STM32F407G-DISC1, controlado desde Android por Bluetooth, con movimiento por PWM, detección de límites de pista y un sistema complementario de lanzamiento de agua.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7"/>
          <p:cNvSpPr/>
          <p:nvPr/>
        </p:nvSpPr>
        <p:spPr>
          <a:xfrm>
            <a:off x="304800" y="2189708"/>
            <a:ext cx="4210050" cy="218680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43840" lvl="0" marL="243840" marR="0" rtl="0"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200"/>
              <a:buFont typeface="Calibri"/>
              <a:buAutoNum type="arabicPeriod"/>
            </a:pPr>
            <a:r>
              <a:rPr b="0" i="0" lang="en-US" sz="1200" u="none" cap="none" strike="noStrike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Diseñar un chasis compacto con cuña frontal.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43840" lvl="0" marL="243840" marR="0" rtl="0"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200"/>
              <a:buFont typeface="Calibri"/>
              <a:buAutoNum type="arabicPeriod"/>
            </a:pPr>
            <a:r>
              <a:rPr b="0" i="0" lang="en-US" sz="1200" u="none" cap="none" strike="noStrike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Controlar dos motores DC con reductora mediante PWM.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43840" lvl="0" marL="243840" marR="0" rtl="0"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200"/>
              <a:buFont typeface="Calibri"/>
              <a:buAutoNum type="arabicPeriod"/>
            </a:pPr>
            <a:r>
              <a:rPr b="0" i="0" lang="en-US" sz="1200" u="none" cap="none" strike="noStrike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Establecer comunicación UART entre STM32 y HC-05.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43840" lvl="0" marL="243840" marR="0" rtl="0"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200"/>
              <a:buFont typeface="Calibri"/>
              <a:buAutoNum type="arabicPeriod"/>
            </a:pPr>
            <a:r>
              <a:rPr b="0" i="0" lang="en-US" sz="1200" u="none" cap="none" strike="noStrike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Implementar una interfaz de control en Android.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43840" lvl="0" marL="243840" marR="0" rtl="0"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200"/>
              <a:buFont typeface="Calibri"/>
              <a:buAutoNum type="arabicPeriod"/>
            </a:pPr>
            <a:r>
              <a:rPr b="0" i="0" lang="en-US" sz="1200" u="none" cap="none" strike="noStrike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Integrar dos sensores digitales de borde.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43840" lvl="0" marL="243840" marR="0" rtl="0"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200"/>
              <a:buFont typeface="Calibri"/>
              <a:buAutoNum type="arabicPeriod"/>
            </a:pPr>
            <a:r>
              <a:rPr b="0" i="0" lang="en-US" sz="1200" u="none" cap="none" strike="noStrike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Controlar una minibomba con salida digital y circuito de potencia.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43840" lvl="0" marL="243840" marR="0" rtl="0"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200"/>
              <a:buFont typeface="Calibri"/>
              <a:buAutoNum type="arabicPeriod"/>
            </a:pPr>
            <a:r>
              <a:rPr b="0" i="0" lang="en-US" sz="1200" u="none" cap="none" strike="noStrike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Implementar paro ante pérdida de comunicación.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43840" lvl="0" marL="243840" marR="0" rtl="0"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200"/>
              <a:buFont typeface="Calibri"/>
              <a:buAutoNum type="arabicPeriod"/>
            </a:pPr>
            <a:r>
              <a:rPr b="0" i="0" lang="en-US" sz="1200" u="none" cap="none" strike="noStrike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Integrar y probar todos los subsistemas.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67" name="Google Shape;67;p7"/>
          <p:cNvGraphicFramePr/>
          <p:nvPr/>
        </p:nvGraphicFramePr>
        <p:xfrm>
          <a:off x="4629150" y="124584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{C7E1EBFA-1DD8-40F3-9E00-23D77B50473C}</a:tableStyleId>
              </a:tblPr>
              <a:tblGrid>
                <a:gridCol w="1936550"/>
                <a:gridCol w="2273500"/>
              </a:tblGrid>
              <a:tr h="3181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200"/>
                        <a:buFont typeface="Reddit Sans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Requisito</a:t>
                      </a:r>
                      <a:endParaRPr sz="1200" u="none" cap="none" strike="noStrik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T="47625" marB="47625" marR="114300" marL="114300" anchor="ctr">
                    <a:lnL cap="flat" cmpd="sng" w="12700">
                      <a:solidFill>
                        <a:srgbClr val="EEF2F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EEF2F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EEF2F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2F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200"/>
                        <a:buFont typeface="Reddit Sans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Implementación propuesta</a:t>
                      </a:r>
                      <a:endParaRPr sz="1200" u="none" cap="none" strike="noStrik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T="47625" marB="47625" marR="114300" marL="114300" anchor="ctr">
                    <a:lnL cap="flat" cmpd="sng" w="12700">
                      <a:solidFill>
                        <a:srgbClr val="EEF2F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EEF2F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EEF2F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2FD"/>
                    </a:solidFill>
                  </a:tcPr>
                </a:tc>
              </a:tr>
              <a:tr h="3181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200"/>
                        <a:buFont typeface="Reddit Sans"/>
                        <a:buNone/>
                      </a:pPr>
                      <a:r>
                        <a:rPr lang="en-US" sz="1200" u="none" cap="none" strike="noStrike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Microcontrolador STM32</a:t>
                      </a:r>
                      <a:endParaRPr sz="1200" u="none" cap="none" strike="noStrik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T="47625" marB="47625" marR="114300" marL="1143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200"/>
                        <a:buFont typeface="Reddit Sans"/>
                        <a:buNone/>
                      </a:pPr>
                      <a:r>
                        <a:rPr lang="en-US" sz="1200" u="none" cap="none" strike="noStrike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STM32F407G-DISC1</a:t>
                      </a:r>
                      <a:endParaRPr sz="1200" u="none" cap="none" strike="noStrik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T="47625" marB="47625" marR="114300" marL="1143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181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200"/>
                        <a:buFont typeface="Reddit Sans"/>
                        <a:buNone/>
                      </a:pPr>
                      <a:r>
                        <a:rPr lang="en-US" sz="1200" u="none" cap="none" strike="noStrike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Dos actuadores PWM</a:t>
                      </a:r>
                      <a:endParaRPr sz="1200" u="none" cap="none" strike="noStrik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T="47625" marB="47625" marR="114300" marL="1143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200"/>
                        <a:buFont typeface="Reddit Sans"/>
                        <a:buNone/>
                      </a:pPr>
                      <a:r>
                        <a:rPr lang="en-US" sz="1200" u="none" cap="none" strike="noStrike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Motor izquierdo y derecho</a:t>
                      </a:r>
                      <a:endParaRPr sz="1200" u="none" cap="none" strike="noStrik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T="47625" marB="47625" marR="114300" marL="1143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181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200"/>
                        <a:buFont typeface="Reddit Sans"/>
                        <a:buNone/>
                      </a:pPr>
                      <a:r>
                        <a:rPr lang="en-US" sz="1200" u="none" cap="none" strike="noStrike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Dos entradas digitales</a:t>
                      </a:r>
                      <a:endParaRPr sz="1200" u="none" cap="none" strike="noStrik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T="47625" marB="47625" marR="114300" marL="1143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200"/>
                        <a:buFont typeface="Reddit Sans"/>
                        <a:buNone/>
                      </a:pPr>
                      <a:r>
                        <a:rPr lang="en-US" sz="1200" u="none" cap="none" strike="noStrike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Sensores infrarrojos de borde</a:t>
                      </a:r>
                      <a:endParaRPr sz="1200" u="none" cap="none" strike="noStrik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T="47625" marB="47625" marR="114300" marL="1143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44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200"/>
                        <a:buFont typeface="Reddit Sans"/>
                        <a:buNone/>
                      </a:pPr>
                      <a:r>
                        <a:rPr lang="en-US" sz="1200" u="none" cap="none" strike="noStrike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Complejidad técnica</a:t>
                      </a:r>
                      <a:endParaRPr sz="1200" u="none" cap="none" strike="noStrik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T="47625" marB="47625" marR="114300" marL="1143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200"/>
                        <a:buFont typeface="Reddit Sans"/>
                        <a:buNone/>
                      </a:pPr>
                      <a:r>
                        <a:rPr lang="en-US" sz="1200" u="none" cap="none" strike="noStrike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Robot de sumo con comunicación, control, sensores y módulo de agua</a:t>
                      </a:r>
                      <a:endParaRPr sz="1200" u="none" cap="none" strike="noStrik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T="47625" marB="47625" marR="114300" marL="1143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219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200"/>
                        <a:buFont typeface="Reddit Sans"/>
                        <a:buNone/>
                      </a:pPr>
                      <a:r>
                        <a:rPr lang="en-US" sz="1200" u="none" cap="none" strike="noStrike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Equipo de 2 a 4 integrantes</a:t>
                      </a:r>
                      <a:endParaRPr sz="1200" u="none" cap="none" strike="noStrik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T="47625" marB="47625" marR="114300" marL="1143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200"/>
                        <a:buFont typeface="Reddit Sans"/>
                        <a:buNone/>
                      </a:pPr>
                      <a:r>
                        <a:rPr lang="en-US" sz="1200" u="none" cap="none" strike="noStrike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Equipo de 3 integrantes</a:t>
                      </a:r>
                      <a:endParaRPr sz="1200" u="none" cap="none" strike="noStrik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T="47625" marB="47625" marR="114300" marL="1143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68" name="Google Shape;68;p7"/>
          <p:cNvSpPr/>
          <p:nvPr/>
        </p:nvSpPr>
        <p:spPr>
          <a:xfrm>
            <a:off x="3732475" y="3937509"/>
            <a:ext cx="42102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200"/>
              <a:buFont typeface="Reddit Sans"/>
              <a:buNone/>
            </a:pPr>
            <a:r>
              <a:rPr b="0" i="0" lang="en-US" sz="1200" u="none" cap="none" strike="noStrike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Se propone STM32CubeIDE; en las etapas 2 y 3 se explicará la configuración de periféricos y la programación. La biblioteca compartida por el profesor no es obligatoria. Nota: la calificación máxima por complejidad deberá validarse con el profesor antes de la exposición.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9" name="Google Shape;69;p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45075" y="4102225"/>
            <a:ext cx="1041275" cy="1041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8"/>
          <p:cNvSpPr/>
          <p:nvPr/>
        </p:nvSpPr>
        <p:spPr>
          <a:xfrm>
            <a:off x="419100" y="209550"/>
            <a:ext cx="1849487" cy="190500"/>
          </a:xfrm>
          <a:prstGeom prst="roundRect">
            <a:avLst>
              <a:gd fmla="val 50000" name="adj"/>
            </a:avLst>
          </a:prstGeom>
          <a:solidFill>
            <a:srgbClr val="1F4FE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" name="Google Shape;76;p8"/>
          <p:cNvSpPr/>
          <p:nvPr/>
        </p:nvSpPr>
        <p:spPr>
          <a:xfrm>
            <a:off x="514350" y="246459"/>
            <a:ext cx="2116187" cy="1238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Reddit Mono Medium"/>
              <a:buNone/>
            </a:pPr>
            <a:r>
              <a:rPr b="0" i="0" lang="en-US" sz="950" u="none" cap="none" strike="noStrike">
                <a:solidFill>
                  <a:srgbClr val="FFFFFF"/>
                </a:solidFill>
                <a:latin typeface="Reddit Mono Medium"/>
                <a:ea typeface="Reddit Mono Medium"/>
                <a:cs typeface="Reddit Mono Medium"/>
                <a:sym typeface="Reddit Mono Medium"/>
              </a:rPr>
              <a:t>ARQUITECTURA DE CONTROL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8"/>
          <p:cNvSpPr/>
          <p:nvPr/>
        </p:nvSpPr>
        <p:spPr>
          <a:xfrm>
            <a:off x="419100" y="495300"/>
            <a:ext cx="5460950" cy="9257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2200"/>
              <a:buFont typeface="Parkinsans"/>
              <a:buNone/>
            </a:pPr>
            <a:r>
              <a:rPr b="1" i="0" lang="en-US" sz="2200" u="none" cap="none" strike="noStrike">
                <a:solidFill>
                  <a:srgbClr val="101A3A"/>
                </a:solidFill>
                <a:latin typeface="Parkinsans"/>
                <a:ea typeface="Parkinsans"/>
                <a:cs typeface="Parkinsans"/>
                <a:sym typeface="Parkinsans"/>
              </a:rPr>
              <a:t>La STM32 es el centro de comunicación, control, sensores y bomba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8"/>
          <p:cNvSpPr/>
          <p:nvPr/>
        </p:nvSpPr>
        <p:spPr>
          <a:xfrm>
            <a:off x="6272585" y="615255"/>
            <a:ext cx="1411188" cy="171450"/>
          </a:xfrm>
          <a:prstGeom prst="roundRect">
            <a:avLst>
              <a:gd fmla="val 50000" name="adj"/>
            </a:avLst>
          </a:prstGeom>
          <a:solidFill>
            <a:srgbClr val="1F4FE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8"/>
          <p:cNvSpPr/>
          <p:nvPr/>
        </p:nvSpPr>
        <p:spPr>
          <a:xfrm>
            <a:off x="6367835" y="650974"/>
            <a:ext cx="1677888" cy="1047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Reddit Mono Medium"/>
              <a:buNone/>
            </a:pPr>
            <a:r>
              <a:rPr b="0" i="0" lang="en-US" sz="850" u="none" cap="none" strike="noStrike">
                <a:solidFill>
                  <a:srgbClr val="FFFFFF"/>
                </a:solidFill>
                <a:latin typeface="Reddit Mono Medium"/>
                <a:ea typeface="Reddit Mono Medium"/>
                <a:cs typeface="Reddit Mono Medium"/>
                <a:sym typeface="Reddit Mono Medium"/>
              </a:rPr>
              <a:t>Control / UART / PWM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8"/>
          <p:cNvSpPr/>
          <p:nvPr/>
        </p:nvSpPr>
        <p:spPr>
          <a:xfrm>
            <a:off x="7740923" y="615255"/>
            <a:ext cx="983977" cy="171450"/>
          </a:xfrm>
          <a:prstGeom prst="roundRect">
            <a:avLst>
              <a:gd fmla="val 50000" name="adj"/>
            </a:avLst>
          </a:prstGeom>
          <a:solidFill>
            <a:srgbClr val="12813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" name="Google Shape;81;p8"/>
          <p:cNvSpPr/>
          <p:nvPr/>
        </p:nvSpPr>
        <p:spPr>
          <a:xfrm>
            <a:off x="7836173" y="650974"/>
            <a:ext cx="888727" cy="1047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Reddit Mono Medium"/>
              <a:buNone/>
            </a:pPr>
            <a:r>
              <a:rPr b="0" i="0" lang="en-US" sz="850" u="none" cap="none" strike="noStrike">
                <a:solidFill>
                  <a:srgbClr val="FFFFFF"/>
                </a:solidFill>
                <a:latin typeface="Reddit Mono Medium"/>
                <a:ea typeface="Reddit Mono Medium"/>
                <a:cs typeface="Reddit Mono Medium"/>
                <a:sym typeface="Reddit Mono Medium"/>
              </a:rPr>
              <a:t>Sensores GPIO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8"/>
          <p:cNvSpPr/>
          <p:nvPr/>
        </p:nvSpPr>
        <p:spPr>
          <a:xfrm>
            <a:off x="7802017" y="843855"/>
            <a:ext cx="922883" cy="171450"/>
          </a:xfrm>
          <a:prstGeom prst="roundRect">
            <a:avLst>
              <a:gd fmla="val 50000" name="adj"/>
            </a:avLst>
          </a:prstGeom>
          <a:solidFill>
            <a:srgbClr val="D6126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" name="Google Shape;83;p8"/>
          <p:cNvSpPr/>
          <p:nvPr/>
        </p:nvSpPr>
        <p:spPr>
          <a:xfrm>
            <a:off x="7897267" y="879574"/>
            <a:ext cx="827633" cy="1047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Reddit Mono Medium"/>
              <a:buNone/>
            </a:pPr>
            <a:r>
              <a:rPr b="0" i="0" lang="en-US" sz="850" u="none" cap="none" strike="noStrike">
                <a:solidFill>
                  <a:srgbClr val="FFFFFF"/>
                </a:solidFill>
                <a:latin typeface="Reddit Mono Medium"/>
                <a:ea typeface="Reddit Mono Medium"/>
                <a:cs typeface="Reddit Mono Medium"/>
                <a:sym typeface="Reddit Mono Medium"/>
              </a:rPr>
              <a:t>Alimentación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8"/>
          <p:cNvSpPr/>
          <p:nvPr/>
        </p:nvSpPr>
        <p:spPr>
          <a:xfrm>
            <a:off x="419100" y="1516335"/>
            <a:ext cx="57150" cy="3156868"/>
          </a:xfrm>
          <a:prstGeom prst="rect">
            <a:avLst/>
          </a:prstGeom>
          <a:solidFill>
            <a:srgbClr val="1F4FE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p8"/>
          <p:cNvSpPr/>
          <p:nvPr/>
        </p:nvSpPr>
        <p:spPr>
          <a:xfrm>
            <a:off x="647700" y="1687785"/>
            <a:ext cx="1656085" cy="13714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A5372"/>
              </a:buClr>
              <a:buSzPts val="900"/>
              <a:buFont typeface="Reddit Mono Medium"/>
              <a:buNone/>
            </a:pPr>
            <a:r>
              <a:rPr b="0" i="0" lang="en-US" sz="900" u="none" cap="none" strike="noStrike">
                <a:solidFill>
                  <a:srgbClr val="4A5372"/>
                </a:solidFill>
                <a:latin typeface="Reddit Mono Medium"/>
                <a:ea typeface="Reddit Mono Medium"/>
                <a:cs typeface="Reddit Mono Medium"/>
                <a:sym typeface="Reddit Mono Medium"/>
              </a:rPr>
              <a:t>COMUNICACIÓN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8"/>
          <p:cNvSpPr/>
          <p:nvPr/>
        </p:nvSpPr>
        <p:spPr>
          <a:xfrm>
            <a:off x="647700" y="1886843"/>
            <a:ext cx="1484635" cy="21044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300"/>
              <a:buFont typeface="Reddit Sans Medium"/>
              <a:buNone/>
            </a:pPr>
            <a:r>
              <a:rPr b="0" i="0" lang="en-US" sz="1300" u="none" cap="none" strike="noStrike">
                <a:solidFill>
                  <a:srgbClr val="101A3A"/>
                </a:solidFill>
                <a:latin typeface="Reddit Sans Medium"/>
                <a:ea typeface="Reddit Sans Medium"/>
                <a:cs typeface="Reddit Sans Medium"/>
                <a:sym typeface="Reddit Sans Medium"/>
              </a:rPr>
              <a:t>Teléfono Android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8"/>
          <p:cNvSpPr/>
          <p:nvPr/>
        </p:nvSpPr>
        <p:spPr>
          <a:xfrm>
            <a:off x="647700" y="2206823"/>
            <a:ext cx="1484635" cy="36001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000"/>
              <a:buFont typeface="Reddit Sans"/>
              <a:buNone/>
            </a:pPr>
            <a:r>
              <a:rPr b="0" i="0" lang="en-US" sz="1000" u="none" cap="none" strike="noStrike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Bluetooth clásico → HC-05 → UART → STM32.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8"/>
          <p:cNvSpPr/>
          <p:nvPr/>
        </p:nvSpPr>
        <p:spPr>
          <a:xfrm>
            <a:off x="647700" y="3323630"/>
            <a:ext cx="1656085" cy="1800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000"/>
              <a:buFont typeface="Reddit Mono Medium"/>
              <a:buNone/>
            </a:pPr>
            <a:r>
              <a:rPr b="0" i="0" lang="en-US" sz="1000" u="none" cap="none" strike="noStrike">
                <a:solidFill>
                  <a:srgbClr val="101A3A"/>
                </a:solidFill>
                <a:latin typeface="Reddit Mono Medium"/>
                <a:ea typeface="Reddit Mono Medium"/>
                <a:cs typeface="Reddit Mono Medium"/>
                <a:sym typeface="Reddit Mono Medium"/>
              </a:rPr>
              <a:t>Comandos de control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8"/>
          <p:cNvSpPr/>
          <p:nvPr/>
        </p:nvSpPr>
        <p:spPr>
          <a:xfrm>
            <a:off x="647700" y="3641750"/>
            <a:ext cx="1484635" cy="21044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300"/>
              <a:buFont typeface="Reddit Sans Medium"/>
              <a:buNone/>
            </a:pPr>
            <a:r>
              <a:rPr b="0" i="0" lang="en-US" sz="1300" u="none" cap="none" strike="noStrike">
                <a:solidFill>
                  <a:srgbClr val="101A3A"/>
                </a:solidFill>
                <a:latin typeface="Reddit Sans Medium"/>
                <a:ea typeface="Reddit Sans Medium"/>
                <a:cs typeface="Reddit Sans Medium"/>
                <a:sym typeface="Reddit Sans Medium"/>
              </a:rPr>
              <a:t>Módulo HC-05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8"/>
          <p:cNvSpPr/>
          <p:nvPr/>
        </p:nvSpPr>
        <p:spPr>
          <a:xfrm>
            <a:off x="647700" y="3961730"/>
            <a:ext cx="1484635" cy="54002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000"/>
              <a:buFont typeface="Reddit Sans"/>
              <a:buNone/>
            </a:pPr>
            <a:r>
              <a:rPr b="0" i="0" lang="en-US" sz="1000" u="none" cap="none" strike="noStrike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Comunicación entre Android y STM32 por UART.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8"/>
          <p:cNvSpPr/>
          <p:nvPr/>
        </p:nvSpPr>
        <p:spPr>
          <a:xfrm>
            <a:off x="2418011" y="1516335"/>
            <a:ext cx="4307904" cy="3156868"/>
          </a:xfrm>
          <a:prstGeom prst="rect">
            <a:avLst/>
          </a:prstGeom>
          <a:solidFill>
            <a:srgbClr val="EEF2FD"/>
          </a:solidFill>
          <a:ln cap="flat" cmpd="sng" w="19050">
            <a:solidFill>
              <a:srgbClr val="1F4F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8"/>
          <p:cNvSpPr/>
          <p:nvPr/>
        </p:nvSpPr>
        <p:spPr>
          <a:xfrm>
            <a:off x="2570411" y="1668735"/>
            <a:ext cx="1849487" cy="190500"/>
          </a:xfrm>
          <a:prstGeom prst="roundRect">
            <a:avLst>
              <a:gd fmla="val 50000" name="adj"/>
            </a:avLst>
          </a:prstGeom>
          <a:solidFill>
            <a:srgbClr val="1F4FE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8"/>
          <p:cNvSpPr/>
          <p:nvPr/>
        </p:nvSpPr>
        <p:spPr>
          <a:xfrm>
            <a:off x="2665661" y="1705645"/>
            <a:ext cx="2116187" cy="1238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Reddit Mono Medium"/>
              <a:buNone/>
            </a:pPr>
            <a:r>
              <a:rPr b="0" i="0" lang="en-US" sz="950" u="none" cap="none" strike="noStrike">
                <a:solidFill>
                  <a:srgbClr val="FFFFFF"/>
                </a:solidFill>
                <a:latin typeface="Reddit Mono Medium"/>
                <a:ea typeface="Reddit Mono Medium"/>
                <a:cs typeface="Reddit Mono Medium"/>
                <a:sym typeface="Reddit Mono Medium"/>
              </a:rPr>
              <a:t>NÚCLEO DE PROCESAMIENTO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8"/>
          <p:cNvSpPr/>
          <p:nvPr/>
        </p:nvSpPr>
        <p:spPr>
          <a:xfrm>
            <a:off x="2570411" y="1921148"/>
            <a:ext cx="4003104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500"/>
              <a:buFont typeface="Reddit Sans Medium"/>
              <a:buNone/>
            </a:pPr>
            <a:r>
              <a:rPr b="0" i="0" lang="en-US" sz="1500" u="none" cap="none" strike="noStrike">
                <a:solidFill>
                  <a:srgbClr val="101A3A"/>
                </a:solidFill>
                <a:latin typeface="Reddit Sans Medium"/>
                <a:ea typeface="Reddit Sans Medium"/>
                <a:cs typeface="Reddit Sans Medium"/>
                <a:sym typeface="Reddit Sans Medium"/>
              </a:rPr>
              <a:t>STM32F407G-DISC1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8"/>
          <p:cNvSpPr/>
          <p:nvPr/>
        </p:nvSpPr>
        <p:spPr>
          <a:xfrm>
            <a:off x="2570411" y="2278335"/>
            <a:ext cx="4155504" cy="1800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000"/>
              <a:buFont typeface="Reddit Sans"/>
              <a:buNone/>
            </a:pPr>
            <a:r>
              <a:rPr b="0" i="0" lang="en-US" sz="1000" u="none" cap="none" strike="noStrike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Comunicación UART y control de movimiento, sensores y bomba.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8"/>
          <p:cNvSpPr/>
          <p:nvPr/>
        </p:nvSpPr>
        <p:spPr>
          <a:xfrm>
            <a:off x="2570411" y="2553593"/>
            <a:ext cx="1944365" cy="132293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8"/>
          <p:cNvSpPr/>
          <p:nvPr/>
        </p:nvSpPr>
        <p:spPr>
          <a:xfrm>
            <a:off x="2570411" y="2553593"/>
            <a:ext cx="38100" cy="1322933"/>
          </a:xfrm>
          <a:prstGeom prst="rect">
            <a:avLst/>
          </a:prstGeom>
          <a:solidFill>
            <a:srgbClr val="1F4FE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8"/>
          <p:cNvSpPr/>
          <p:nvPr/>
        </p:nvSpPr>
        <p:spPr>
          <a:xfrm>
            <a:off x="2703761" y="2629793"/>
            <a:ext cx="1715765" cy="11705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Reddit Sans"/>
              <a:buNone/>
            </a:pPr>
            <a:r>
              <a:rPr b="1" i="0" lang="en-US" sz="1000" u="none" cap="none" strike="noStrike">
                <a:solidFill>
                  <a:srgbClr val="000000"/>
                </a:solidFill>
                <a:latin typeface="Reddit Sans"/>
                <a:ea typeface="Reddit Sans"/>
                <a:cs typeface="Reddit Sans"/>
                <a:sym typeface="Reddit Sans"/>
              </a:rPr>
              <a:t>Movimiento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7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Reddit Sans"/>
              <a:buNone/>
            </a:pPr>
            <a:r>
              <a:rPr b="0" i="0" lang="en-US" sz="1000" u="none" cap="none" strike="noStrike">
                <a:solidFill>
                  <a:srgbClr val="000000"/>
                </a:solidFill>
                <a:latin typeface="Reddit Sans"/>
                <a:ea typeface="Reddit Sans"/>
                <a:cs typeface="Reddit Sans"/>
                <a:sym typeface="Reddit Sans"/>
              </a:rPr>
              <a:t>Dos señales PWM independientes y señales digitales de dirección → driver puente H → motor izquierdo y derecho.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8"/>
          <p:cNvSpPr/>
          <p:nvPr/>
        </p:nvSpPr>
        <p:spPr>
          <a:xfrm>
            <a:off x="4629076" y="2553593"/>
            <a:ext cx="1944439" cy="132293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8"/>
          <p:cNvSpPr/>
          <p:nvPr/>
        </p:nvSpPr>
        <p:spPr>
          <a:xfrm>
            <a:off x="4629076" y="2553593"/>
            <a:ext cx="38100" cy="1322933"/>
          </a:xfrm>
          <a:prstGeom prst="rect">
            <a:avLst/>
          </a:prstGeom>
          <a:solidFill>
            <a:srgbClr val="12813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p8"/>
          <p:cNvSpPr/>
          <p:nvPr/>
        </p:nvSpPr>
        <p:spPr>
          <a:xfrm>
            <a:off x="4762426" y="2629793"/>
            <a:ext cx="1715839" cy="81051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Reddit Sans"/>
              <a:buNone/>
            </a:pPr>
            <a:r>
              <a:rPr b="1" i="0" lang="en-US" sz="1000" u="none" cap="none" strike="noStrike">
                <a:solidFill>
                  <a:srgbClr val="000000"/>
                </a:solidFill>
                <a:latin typeface="Reddit Sans"/>
                <a:ea typeface="Reddit Sans"/>
                <a:cs typeface="Reddit Sans"/>
                <a:sym typeface="Reddit Sans"/>
              </a:rPr>
              <a:t>Entradas digitales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7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Reddit Sans"/>
              <a:buNone/>
            </a:pPr>
            <a:r>
              <a:rPr b="0" i="0" lang="en-US" sz="1000" u="none" cap="none" strike="noStrike">
                <a:solidFill>
                  <a:srgbClr val="000000"/>
                </a:solidFill>
                <a:latin typeface="Reddit Sans"/>
                <a:ea typeface="Reddit Sans"/>
                <a:cs typeface="Reddit Sans"/>
                <a:sym typeface="Reddit Sans"/>
              </a:rPr>
              <a:t>Sensor infrarrojo izquierdo y derecho → GPIO STM32; orientados al suelo.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8"/>
          <p:cNvSpPr/>
          <p:nvPr/>
        </p:nvSpPr>
        <p:spPr>
          <a:xfrm>
            <a:off x="2570411" y="3971776"/>
            <a:ext cx="4003104" cy="5124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8"/>
          <p:cNvSpPr/>
          <p:nvPr/>
        </p:nvSpPr>
        <p:spPr>
          <a:xfrm>
            <a:off x="2570411" y="3971776"/>
            <a:ext cx="38100" cy="512415"/>
          </a:xfrm>
          <a:prstGeom prst="rect">
            <a:avLst/>
          </a:prstGeom>
          <a:solidFill>
            <a:srgbClr val="D6126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p8"/>
          <p:cNvSpPr/>
          <p:nvPr/>
        </p:nvSpPr>
        <p:spPr>
          <a:xfrm>
            <a:off x="2703761" y="4047976"/>
            <a:ext cx="3698304" cy="36001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Reddit Sans"/>
              <a:buNone/>
            </a:pPr>
            <a:r>
              <a:rPr b="1" i="0" lang="en-US" sz="1000" u="none" cap="none" strike="noStrike">
                <a:solidFill>
                  <a:srgbClr val="000000"/>
                </a:solidFill>
                <a:latin typeface="Reddit Sans"/>
                <a:ea typeface="Reddit Sans"/>
                <a:cs typeface="Reddit Sans"/>
                <a:sym typeface="Reddit Sans"/>
              </a:rPr>
              <a:t>Agua:</a:t>
            </a:r>
            <a:r>
              <a:rPr b="0" i="0" lang="en-US" sz="1000" u="none" cap="none" strike="noStrike">
                <a:solidFill>
                  <a:srgbClr val="000000"/>
                </a:solidFill>
                <a:latin typeface="Reddit Sans"/>
                <a:ea typeface="Reddit Sans"/>
                <a:cs typeface="Reddit Sans"/>
                <a:sym typeface="Reddit Sans"/>
              </a:rPr>
              <a:t> GPIO → circuito de potencia con MOSFET → minibomba → manguera → boquilla frontal fija.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8"/>
          <p:cNvSpPr/>
          <p:nvPr/>
        </p:nvSpPr>
        <p:spPr>
          <a:xfrm>
            <a:off x="6840141" y="1516335"/>
            <a:ext cx="57150" cy="3156868"/>
          </a:xfrm>
          <a:prstGeom prst="rect">
            <a:avLst/>
          </a:prstGeom>
          <a:solidFill>
            <a:srgbClr val="FF842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8"/>
          <p:cNvSpPr/>
          <p:nvPr/>
        </p:nvSpPr>
        <p:spPr>
          <a:xfrm>
            <a:off x="7068741" y="1687785"/>
            <a:ext cx="1656159" cy="13714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A5372"/>
              </a:buClr>
              <a:buSzPts val="900"/>
              <a:buFont typeface="Reddit Mono Medium"/>
              <a:buNone/>
            </a:pPr>
            <a:r>
              <a:rPr b="0" i="0" lang="en-US" sz="900" u="none" cap="none" strike="noStrike">
                <a:solidFill>
                  <a:srgbClr val="4A5372"/>
                </a:solidFill>
                <a:latin typeface="Reddit Mono Medium"/>
                <a:ea typeface="Reddit Mono Medium"/>
                <a:cs typeface="Reddit Mono Medium"/>
                <a:sym typeface="Reddit Mono Medium"/>
              </a:rPr>
              <a:t>ACTUADORES Y POTENCIA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8"/>
          <p:cNvSpPr/>
          <p:nvPr/>
        </p:nvSpPr>
        <p:spPr>
          <a:xfrm>
            <a:off x="7068741" y="1886843"/>
            <a:ext cx="1484709" cy="21044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300"/>
              <a:buFont typeface="Reddit Sans Medium"/>
              <a:buNone/>
            </a:pPr>
            <a:r>
              <a:rPr b="0" i="0" lang="en-US" sz="1300" u="none" cap="none" strike="noStrike">
                <a:solidFill>
                  <a:srgbClr val="101A3A"/>
                </a:solidFill>
                <a:latin typeface="Reddit Sans Medium"/>
                <a:ea typeface="Reddit Sans Medium"/>
                <a:cs typeface="Reddit Sans Medium"/>
                <a:sym typeface="Reddit Sans Medium"/>
              </a:rPr>
              <a:t>Driver puente H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8"/>
          <p:cNvSpPr/>
          <p:nvPr/>
        </p:nvSpPr>
        <p:spPr>
          <a:xfrm>
            <a:off x="7068741" y="2206823"/>
            <a:ext cx="1484709" cy="36001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000"/>
              <a:buFont typeface="Reddit Sans"/>
              <a:buNone/>
            </a:pPr>
            <a:r>
              <a:rPr b="0" i="0" lang="en-US" sz="1000" u="none" cap="none" strike="noStrike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Dos motores DC con reductora.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8"/>
          <p:cNvSpPr/>
          <p:nvPr/>
        </p:nvSpPr>
        <p:spPr>
          <a:xfrm>
            <a:off x="7068741" y="2662089"/>
            <a:ext cx="1484709" cy="21044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300"/>
              <a:buFont typeface="Reddit Sans Medium"/>
              <a:buNone/>
            </a:pPr>
            <a:r>
              <a:rPr b="0" i="0" lang="en-US" sz="1300" u="none" cap="none" strike="noStrike">
                <a:solidFill>
                  <a:srgbClr val="101A3A"/>
                </a:solidFill>
                <a:latin typeface="Reddit Sans Medium"/>
                <a:ea typeface="Reddit Sans Medium"/>
                <a:cs typeface="Reddit Sans Medium"/>
                <a:sym typeface="Reddit Sans Medium"/>
              </a:rPr>
              <a:t>Minibomba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8"/>
          <p:cNvSpPr/>
          <p:nvPr/>
        </p:nvSpPr>
        <p:spPr>
          <a:xfrm>
            <a:off x="7068741" y="2982069"/>
            <a:ext cx="1484709" cy="36001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000"/>
              <a:buFont typeface="Reddit Sans"/>
              <a:buNone/>
            </a:pPr>
            <a:r>
              <a:rPr b="0" i="0" lang="en-US" sz="1000" u="none" cap="none" strike="noStrike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Circuito de potencia con MOSFET.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8"/>
          <p:cNvSpPr/>
          <p:nvPr/>
        </p:nvSpPr>
        <p:spPr>
          <a:xfrm>
            <a:off x="7011516" y="3382253"/>
            <a:ext cx="14847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000"/>
              <a:buFont typeface="Reddit Mono Medium"/>
              <a:buNone/>
            </a:pPr>
            <a:r>
              <a:rPr b="0" i="0" lang="en-US" sz="1000" u="none" cap="none" strike="noStrike">
                <a:solidFill>
                  <a:srgbClr val="101A3A"/>
                </a:solidFill>
                <a:latin typeface="Reddit Mono Medium"/>
                <a:ea typeface="Reddit Mono Medium"/>
                <a:cs typeface="Reddit Mono Medium"/>
                <a:sym typeface="Reddit Mono Medium"/>
              </a:rPr>
              <a:t>Batería recargable → protección y regulación → STM32, HC-05, driver y bomba.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8"/>
          <p:cNvSpPr/>
          <p:nvPr/>
        </p:nvSpPr>
        <p:spPr>
          <a:xfrm>
            <a:off x="419100" y="4792025"/>
            <a:ext cx="6775800" cy="1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4A5372"/>
              </a:buClr>
              <a:buSzPts val="950"/>
              <a:buFont typeface="Reddit Sans"/>
              <a:buNone/>
            </a:pPr>
            <a:r>
              <a:rPr b="0" i="0" lang="en-US" sz="950" u="none" cap="none" strike="noStrike">
                <a:solidFill>
                  <a:srgbClr val="4A5372"/>
                </a:solidFill>
                <a:latin typeface="Reddit Sans"/>
                <a:ea typeface="Reddit Sans"/>
                <a:cs typeface="Reddit Sans"/>
                <a:sym typeface="Reddit Sans"/>
              </a:rPr>
              <a:t>Los voltajes dependen de los componentes definitivos. Respetar los 3.3 V del STM32 y verificar los terminales UART del HC-05. Sin ESP32, Arduino ni Wi-Fi.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3" name="Google Shape;113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45075" y="4102225"/>
            <a:ext cx="1041275" cy="1041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9"/>
          <p:cNvSpPr/>
          <p:nvPr/>
        </p:nvSpPr>
        <p:spPr>
          <a:xfrm>
            <a:off x="419100" y="323850"/>
            <a:ext cx="1705198" cy="190500"/>
          </a:xfrm>
          <a:prstGeom prst="roundRect">
            <a:avLst>
              <a:gd fmla="val 50000" name="adj"/>
            </a:avLst>
          </a:prstGeom>
          <a:solidFill>
            <a:srgbClr val="1F4FE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" name="Google Shape;120;p9"/>
          <p:cNvSpPr/>
          <p:nvPr/>
        </p:nvSpPr>
        <p:spPr>
          <a:xfrm>
            <a:off x="514350" y="360759"/>
            <a:ext cx="1971898" cy="1238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Reddit Mono Medium"/>
              <a:buNone/>
            </a:pPr>
            <a:r>
              <a:rPr b="0" i="0" lang="en-US" sz="950" u="none" cap="none" strike="noStrike">
                <a:solidFill>
                  <a:srgbClr val="FFFFFF"/>
                </a:solidFill>
                <a:latin typeface="Reddit Mono Medium"/>
                <a:ea typeface="Reddit Mono Medium"/>
                <a:cs typeface="Reddit Mono Medium"/>
                <a:sym typeface="Reddit Mono Medium"/>
              </a:rPr>
              <a:t>DISTRIBUCIÓN MECÁNICA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9"/>
          <p:cNvSpPr/>
          <p:nvPr/>
        </p:nvSpPr>
        <p:spPr>
          <a:xfrm>
            <a:off x="419100" y="576263"/>
            <a:ext cx="8305800" cy="6171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2200"/>
              <a:buFont typeface="Parkinsans"/>
              <a:buNone/>
            </a:pPr>
            <a:r>
              <a:rPr b="1" i="0" lang="en-US" sz="2200" u="none" cap="none" strike="noStrike">
                <a:solidFill>
                  <a:srgbClr val="101A3A"/>
                </a:solidFill>
                <a:latin typeface="Parkinsans"/>
                <a:ea typeface="Parkinsans"/>
                <a:cs typeface="Parkinsans"/>
                <a:sym typeface="Parkinsans"/>
              </a:rPr>
              <a:t>Una estructura compacta con cuña frontal y agua separada de la electrónica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9"/>
          <p:cNvSpPr/>
          <p:nvPr/>
        </p:nvSpPr>
        <p:spPr>
          <a:xfrm>
            <a:off x="419100" y="1288703"/>
            <a:ext cx="1905000" cy="1956271"/>
          </a:xfrm>
          <a:prstGeom prst="rect">
            <a:avLst/>
          </a:prstGeom>
          <a:solidFill>
            <a:srgbClr val="EEF2F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23" name="Google Shape;123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5300" y="1364903"/>
            <a:ext cx="1752600" cy="985763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9"/>
          <p:cNvSpPr/>
          <p:nvPr/>
        </p:nvSpPr>
        <p:spPr>
          <a:xfrm>
            <a:off x="495300" y="2488778"/>
            <a:ext cx="1752600" cy="21044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300"/>
              <a:buFont typeface="Reddit Sans Medium"/>
              <a:buNone/>
            </a:pPr>
            <a:r>
              <a:rPr b="0" i="0" lang="en-US" sz="1300" u="none" cap="none" strike="noStrike">
                <a:solidFill>
                  <a:srgbClr val="101A3A"/>
                </a:solidFill>
                <a:latin typeface="Reddit Sans Medium"/>
                <a:ea typeface="Reddit Sans Medium"/>
                <a:cs typeface="Reddit Sans Medium"/>
                <a:sym typeface="Reddit Sans Medium"/>
              </a:rPr>
              <a:t>Vista isométrica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9"/>
          <p:cNvSpPr/>
          <p:nvPr/>
        </p:nvSpPr>
        <p:spPr>
          <a:xfrm>
            <a:off x="495300" y="2808759"/>
            <a:ext cx="1752600" cy="36001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000"/>
              <a:buFont typeface="Reddit Sans"/>
              <a:buNone/>
            </a:pPr>
            <a:r>
              <a:rPr b="0" i="0" lang="en-US" sz="1000" u="none" cap="none" strike="noStrike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Integración general y perfil bajo para empuje.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9"/>
          <p:cNvSpPr/>
          <p:nvPr/>
        </p:nvSpPr>
        <p:spPr>
          <a:xfrm>
            <a:off x="2552700" y="1288703"/>
            <a:ext cx="1905000" cy="1956271"/>
          </a:xfrm>
          <a:prstGeom prst="rect">
            <a:avLst/>
          </a:prstGeom>
          <a:solidFill>
            <a:srgbClr val="EEF2F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27" name="Google Shape;127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628900" y="1364903"/>
            <a:ext cx="1752600" cy="985763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9"/>
          <p:cNvSpPr/>
          <p:nvPr/>
        </p:nvSpPr>
        <p:spPr>
          <a:xfrm>
            <a:off x="2628900" y="2488778"/>
            <a:ext cx="1752600" cy="21044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300"/>
              <a:buFont typeface="Reddit Sans Medium"/>
              <a:buNone/>
            </a:pPr>
            <a:r>
              <a:rPr b="0" i="0" lang="en-US" sz="1300" u="none" cap="none" strike="noStrike">
                <a:solidFill>
                  <a:srgbClr val="101A3A"/>
                </a:solidFill>
                <a:latin typeface="Reddit Sans Medium"/>
                <a:ea typeface="Reddit Sans Medium"/>
                <a:cs typeface="Reddit Sans Medium"/>
                <a:sym typeface="Reddit Sans Medium"/>
              </a:rPr>
              <a:t>Vista superior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9"/>
          <p:cNvSpPr/>
          <p:nvPr/>
        </p:nvSpPr>
        <p:spPr>
          <a:xfrm>
            <a:off x="2628900" y="2808759"/>
            <a:ext cx="1752600" cy="36001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000"/>
              <a:buFont typeface="Reddit Sans"/>
              <a:buNone/>
            </a:pPr>
            <a:r>
              <a:rPr b="0" i="0" lang="en-US" sz="1000" u="none" cap="none" strike="noStrike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Distribución de masa y separación de líquidos.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9"/>
          <p:cNvSpPr/>
          <p:nvPr/>
        </p:nvSpPr>
        <p:spPr>
          <a:xfrm>
            <a:off x="4686300" y="1288703"/>
            <a:ext cx="1905000" cy="1956271"/>
          </a:xfrm>
          <a:prstGeom prst="rect">
            <a:avLst/>
          </a:prstGeom>
          <a:solidFill>
            <a:srgbClr val="EEF2F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31" name="Google Shape;131;p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762500" y="1364903"/>
            <a:ext cx="1752600" cy="985763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9"/>
          <p:cNvSpPr/>
          <p:nvPr/>
        </p:nvSpPr>
        <p:spPr>
          <a:xfrm>
            <a:off x="4762500" y="2488778"/>
            <a:ext cx="1752600" cy="21044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300"/>
              <a:buFont typeface="Reddit Sans Medium"/>
              <a:buNone/>
            </a:pPr>
            <a:r>
              <a:rPr b="0" i="0" lang="en-US" sz="1300" u="none" cap="none" strike="noStrike">
                <a:solidFill>
                  <a:srgbClr val="101A3A"/>
                </a:solidFill>
                <a:latin typeface="Reddit Sans Medium"/>
                <a:ea typeface="Reddit Sans Medium"/>
                <a:cs typeface="Reddit Sans Medium"/>
                <a:sym typeface="Reddit Sans Medium"/>
              </a:rPr>
              <a:t>Vista lateral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9"/>
          <p:cNvSpPr/>
          <p:nvPr/>
        </p:nvSpPr>
        <p:spPr>
          <a:xfrm>
            <a:off x="4762500" y="2808759"/>
            <a:ext cx="1752600" cy="36001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000"/>
              <a:buFont typeface="Reddit Sans"/>
              <a:buNone/>
            </a:pPr>
            <a:r>
              <a:rPr b="0" i="0" lang="en-US" sz="1000" u="none" cap="none" strike="noStrike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Cuña rasante e inclinación para palanca mecánica.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9"/>
          <p:cNvSpPr/>
          <p:nvPr/>
        </p:nvSpPr>
        <p:spPr>
          <a:xfrm>
            <a:off x="6819900" y="1288703"/>
            <a:ext cx="1905000" cy="1956271"/>
          </a:xfrm>
          <a:prstGeom prst="rect">
            <a:avLst/>
          </a:prstGeom>
          <a:solidFill>
            <a:srgbClr val="EEF2F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35" name="Google Shape;135;p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896100" y="1364903"/>
            <a:ext cx="1752600" cy="985763"/>
          </a:xfrm>
          <a:prstGeom prst="rect">
            <a:avLst/>
          </a:prstGeom>
          <a:noFill/>
          <a:ln>
            <a:noFill/>
          </a:ln>
        </p:spPr>
      </p:pic>
      <p:sp>
        <p:nvSpPr>
          <p:cNvPr id="136" name="Google Shape;136;p9"/>
          <p:cNvSpPr/>
          <p:nvPr/>
        </p:nvSpPr>
        <p:spPr>
          <a:xfrm>
            <a:off x="6896100" y="2488778"/>
            <a:ext cx="1752600" cy="21044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300"/>
              <a:buFont typeface="Reddit Sans Medium"/>
              <a:buNone/>
            </a:pPr>
            <a:r>
              <a:rPr b="0" i="0" lang="en-US" sz="1300" u="none" cap="none" strike="noStrike">
                <a:solidFill>
                  <a:srgbClr val="101A3A"/>
                </a:solidFill>
                <a:latin typeface="Reddit Sans Medium"/>
                <a:ea typeface="Reddit Sans Medium"/>
                <a:cs typeface="Reddit Sans Medium"/>
                <a:sym typeface="Reddit Sans Medium"/>
              </a:rPr>
              <a:t>Vista frontal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9"/>
          <p:cNvSpPr/>
          <p:nvPr/>
        </p:nvSpPr>
        <p:spPr>
          <a:xfrm>
            <a:off x="6896100" y="2808759"/>
            <a:ext cx="1752600" cy="36001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000"/>
              <a:buFont typeface="Reddit Sans"/>
              <a:buNone/>
            </a:pPr>
            <a:r>
              <a:rPr b="0" i="0" lang="en-US" sz="1000" u="none" cap="none" strike="noStrike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Sensores de borde y boquilla fija de agua.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9"/>
          <p:cNvSpPr/>
          <p:nvPr/>
        </p:nvSpPr>
        <p:spPr>
          <a:xfrm>
            <a:off x="419100" y="3340224"/>
            <a:ext cx="38100" cy="616223"/>
          </a:xfrm>
          <a:prstGeom prst="rect">
            <a:avLst/>
          </a:prstGeom>
          <a:solidFill>
            <a:srgbClr val="1F4FE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9"/>
          <p:cNvSpPr/>
          <p:nvPr/>
        </p:nvSpPr>
        <p:spPr>
          <a:xfrm>
            <a:off x="552450" y="3378324"/>
            <a:ext cx="2463775" cy="54002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000"/>
              <a:buFont typeface="Reddit Sans"/>
              <a:buNone/>
            </a:pPr>
            <a:r>
              <a:rPr b="1" i="0" lang="en-US" sz="1000" u="none" cap="none" strike="noStrike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Chasis y cuña:</a:t>
            </a:r>
            <a:r>
              <a:rPr b="0" i="0" lang="en-US" sz="1000" u="none" cap="none" strike="noStrike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Estructura rígida de bajo centro de gravedad para maximizar empuje.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9"/>
          <p:cNvSpPr/>
          <p:nvPr/>
        </p:nvSpPr>
        <p:spPr>
          <a:xfrm>
            <a:off x="3225775" y="3340224"/>
            <a:ext cx="38100" cy="616223"/>
          </a:xfrm>
          <a:prstGeom prst="rect">
            <a:avLst/>
          </a:prstGeom>
          <a:solidFill>
            <a:srgbClr val="12813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9"/>
          <p:cNvSpPr/>
          <p:nvPr/>
        </p:nvSpPr>
        <p:spPr>
          <a:xfrm>
            <a:off x="3359125" y="3378324"/>
            <a:ext cx="2463775" cy="54002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000"/>
              <a:buFont typeface="Reddit Sans"/>
              <a:buNone/>
            </a:pPr>
            <a:r>
              <a:rPr b="1" i="0" lang="en-US" sz="1000" u="none" cap="none" strike="noStrike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Sensores ópticos:</a:t>
            </a:r>
            <a:r>
              <a:rPr b="0" i="0" lang="en-US" sz="1000" u="none" cap="none" strike="noStrike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Dos sensores infrarrojos frontales orientados directamente al tatami.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9"/>
          <p:cNvSpPr/>
          <p:nvPr/>
        </p:nvSpPr>
        <p:spPr>
          <a:xfrm>
            <a:off x="6032450" y="3340224"/>
            <a:ext cx="38100" cy="616223"/>
          </a:xfrm>
          <a:prstGeom prst="rect">
            <a:avLst/>
          </a:prstGeom>
          <a:solidFill>
            <a:srgbClr val="FF842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9"/>
          <p:cNvSpPr/>
          <p:nvPr/>
        </p:nvSpPr>
        <p:spPr>
          <a:xfrm>
            <a:off x="6165800" y="3378324"/>
            <a:ext cx="2463850" cy="54002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000"/>
              <a:buFont typeface="Reddit Sans"/>
              <a:buNone/>
            </a:pPr>
            <a:r>
              <a:rPr b="1" i="0" lang="en-US" sz="1000" u="none" cap="none" strike="noStrike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Aislamiento hidráulico:</a:t>
            </a:r>
            <a:r>
              <a:rPr b="0" i="0" lang="en-US" sz="1000" u="none" cap="none" strike="noStrike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Depósito y manguera sellados, alejados de la electrónica central.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9"/>
          <p:cNvSpPr/>
          <p:nvPr/>
        </p:nvSpPr>
        <p:spPr>
          <a:xfrm>
            <a:off x="419100" y="4094559"/>
            <a:ext cx="8724900" cy="1607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4A5372"/>
              </a:buClr>
              <a:buSzPts val="950"/>
              <a:buFont typeface="Reddit Sans"/>
              <a:buNone/>
            </a:pPr>
            <a:r>
              <a:rPr b="0" i="0" lang="en-US" sz="950" u="none" cap="none" strike="noStrike">
                <a:solidFill>
                  <a:srgbClr val="4A5372"/>
                </a:solidFill>
                <a:latin typeface="Reddit Sans"/>
                <a:ea typeface="Reddit Sans"/>
                <a:cs typeface="Reddit Sans"/>
                <a:sym typeface="Reddit Sans"/>
              </a:rPr>
              <a:t>Diseño conceptual sujeto a modificaciones durante la construcción física.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5" name="Google Shape;145;p9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8045075" y="4102225"/>
            <a:ext cx="1041275" cy="1041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10"/>
          <p:cNvSpPr/>
          <p:nvPr/>
        </p:nvSpPr>
        <p:spPr>
          <a:xfrm>
            <a:off x="400050" y="266700"/>
            <a:ext cx="8343900" cy="6171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2200"/>
              <a:buFont typeface="Parkinsans"/>
              <a:buNone/>
            </a:pPr>
            <a:r>
              <a:rPr b="1" i="0" lang="en-US" sz="2200" u="none" cap="none" strike="noStrike">
                <a:solidFill>
                  <a:srgbClr val="101A3A"/>
                </a:solidFill>
                <a:latin typeface="Parkinsans"/>
                <a:ea typeface="Parkinsans"/>
                <a:cs typeface="Parkinsans"/>
                <a:sym typeface="Parkinsans"/>
              </a:rPr>
              <a:t>Desde el teléfono, el robot se mueve, dispara agua y se detiene con seguridad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52" name="Google Shape;152;p10"/>
          <p:cNvGraphicFramePr/>
          <p:nvPr/>
        </p:nvGraphicFramePr>
        <p:xfrm>
          <a:off x="400050" y="103629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{C7E1EBFA-1DD8-40F3-9E00-23D77B50473C}</a:tableStyleId>
              </a:tblPr>
              <a:tblGrid>
                <a:gridCol w="2207350"/>
                <a:gridCol w="2391375"/>
              </a:tblGrid>
              <a:tr h="3181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200"/>
                        <a:buFont typeface="Reddit Sans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Componente</a:t>
                      </a:r>
                      <a:endParaRPr sz="1200" u="none" cap="none" strike="noStrik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T="47625" marB="47625" marR="114300" marL="114300" anchor="ctr">
                    <a:lnL cap="flat" cmpd="sng" w="12700">
                      <a:solidFill>
                        <a:srgbClr val="EEF2F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EEF2F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EEF2F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2F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200"/>
                        <a:buFont typeface="Reddit Sans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Función</a:t>
                      </a:r>
                      <a:endParaRPr sz="1200" u="none" cap="none" strike="noStrik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T="47625" marB="47625" marR="114300" marL="114300" anchor="ctr">
                    <a:lnL cap="flat" cmpd="sng" w="12700">
                      <a:solidFill>
                        <a:srgbClr val="EEF2F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EEF2F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EEF2F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2FD"/>
                    </a:solidFill>
                  </a:tcPr>
                </a:tc>
              </a:tr>
              <a:tr h="3181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200"/>
                        <a:buFont typeface="Reddit Sans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STM32F407G-DISC1</a:t>
                      </a:r>
                      <a:endParaRPr sz="1200" u="none" cap="none" strike="noStrik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T="47625" marB="47625" marR="114300" marL="1143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200"/>
                        <a:buFont typeface="Reddit Sans"/>
                        <a:buNone/>
                      </a:pPr>
                      <a:r>
                        <a:rPr lang="en-US" sz="1200" u="none" cap="none" strike="noStrike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Control principal</a:t>
                      </a:r>
                      <a:endParaRPr sz="1200" u="none" cap="none" strike="noStrik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T="47625" marB="47625" marR="114300" marL="1143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181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200"/>
                        <a:buFont typeface="Reddit Sans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Bluetooth HC-05</a:t>
                      </a:r>
                      <a:endParaRPr sz="1200" u="none" cap="none" strike="noStrik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T="47625" marB="47625" marR="114300" marL="1143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200"/>
                        <a:buFont typeface="Reddit Sans"/>
                        <a:buNone/>
                      </a:pPr>
                      <a:r>
                        <a:rPr lang="en-US" sz="1200" u="none" cap="none" strike="noStrike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Comunicación Android</a:t>
                      </a:r>
                      <a:endParaRPr sz="1200" u="none" cap="none" strike="noStrik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T="47625" marB="47625" marR="114300" marL="1143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181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200"/>
                        <a:buFont typeface="Reddit Sans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Dos motores DC</a:t>
                      </a:r>
                      <a:endParaRPr sz="1200" u="none" cap="none" strike="noStrik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T="47625" marB="47625" marR="114300" marL="1143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200"/>
                        <a:buFont typeface="Reddit Sans"/>
                        <a:buNone/>
                      </a:pPr>
                      <a:r>
                        <a:rPr lang="en-US" sz="1200" u="none" cap="none" strike="noStrike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Movimiento</a:t>
                      </a:r>
                      <a:endParaRPr sz="1200" u="none" cap="none" strike="noStrik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T="47625" marB="47625" marR="114300" marL="1143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181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200"/>
                        <a:buFont typeface="Reddit Sans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Driver puente H</a:t>
                      </a:r>
                      <a:endParaRPr sz="1200" u="none" cap="none" strike="noStrik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T="47625" marB="47625" marR="114300" marL="1143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200"/>
                        <a:buFont typeface="Reddit Sans"/>
                        <a:buNone/>
                      </a:pPr>
                      <a:r>
                        <a:rPr lang="en-US" sz="1200" u="none" cap="none" strike="noStrike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Control PWM y dirección</a:t>
                      </a:r>
                      <a:endParaRPr sz="1200" u="none" cap="none" strike="noStrik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T="47625" marB="47625" marR="114300" marL="1143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181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200"/>
                        <a:buFont typeface="Reddit Sans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Dos sensores infrarrojos</a:t>
                      </a:r>
                      <a:endParaRPr sz="1200" u="none" cap="none" strike="noStrik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T="47625" marB="47625" marR="114300" marL="1143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200"/>
                        <a:buFont typeface="Reddit Sans"/>
                        <a:buNone/>
                      </a:pPr>
                      <a:r>
                        <a:rPr lang="en-US" sz="1200" u="none" cap="none" strike="noStrike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Detección de bordes</a:t>
                      </a:r>
                      <a:endParaRPr sz="1200" u="none" cap="none" strike="noStrik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T="47625" marB="47625" marR="114300" marL="1143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181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200"/>
                        <a:buFont typeface="Reddit Sans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Minibomba DC</a:t>
                      </a:r>
                      <a:endParaRPr sz="1200" u="none" cap="none" strike="noStrik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T="47625" marB="47625" marR="114300" marL="1143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200"/>
                        <a:buFont typeface="Reddit Sans"/>
                        <a:buNone/>
                      </a:pPr>
                      <a:r>
                        <a:rPr lang="en-US" sz="1200" u="none" cap="none" strike="noStrike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Impulsar agua</a:t>
                      </a:r>
                      <a:endParaRPr sz="1200" u="none" cap="none" strike="noStrik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T="47625" marB="47625" marR="114300" marL="1143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181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200"/>
                        <a:buFont typeface="Reddit Sans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MOSFET y protecciones</a:t>
                      </a:r>
                      <a:endParaRPr sz="1200" u="none" cap="none" strike="noStrik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T="47625" marB="47625" marR="114300" marL="1143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200"/>
                        <a:buFont typeface="Reddit Sans"/>
                        <a:buNone/>
                      </a:pPr>
                      <a:r>
                        <a:rPr lang="en-US" sz="1200" u="none" cap="none" strike="noStrike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Accionar la bomba</a:t>
                      </a:r>
                      <a:endParaRPr sz="1200" u="none" cap="none" strike="noStrik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T="47625" marB="47625" marR="114300" marL="1143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314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200"/>
                        <a:buFont typeface="Reddit Sans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Depósito, manguera y boquilla</a:t>
                      </a:r>
                      <a:endParaRPr sz="1200" u="none" cap="none" strike="noStrik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T="47625" marB="47625" marR="114300" marL="1143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200"/>
                        <a:buFont typeface="Reddit Sans"/>
                        <a:buNone/>
                      </a:pPr>
                      <a:r>
                        <a:rPr lang="en-US" sz="1200" u="none" cap="none" strike="noStrike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Sistema hidráulico</a:t>
                      </a:r>
                      <a:endParaRPr sz="1200" u="none" cap="none" strike="noStrik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T="47625" marB="47625" marR="114300" marL="1143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181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200"/>
                        <a:buFont typeface="Reddit Sans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Batería y reguladores</a:t>
                      </a:r>
                      <a:endParaRPr sz="1200" u="none" cap="none" strike="noStrik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T="47625" marB="47625" marR="114300" marL="1143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200"/>
                        <a:buFont typeface="Reddit Sans"/>
                        <a:buNone/>
                      </a:pPr>
                      <a:r>
                        <a:rPr lang="en-US" sz="1200" u="none" cap="none" strike="noStrike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Alimentación</a:t>
                      </a:r>
                      <a:endParaRPr sz="1200" u="none" cap="none" strike="noStrik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T="47625" marB="47625" marR="114300" marL="1143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086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200"/>
                        <a:buFont typeface="Reddit Sans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Chasis y cuña</a:t>
                      </a:r>
                      <a:endParaRPr sz="1200" u="none" cap="none" strike="noStrik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T="47625" marB="47625" marR="114300" marL="1143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200"/>
                        <a:buFont typeface="Reddit Sans"/>
                        <a:buNone/>
                      </a:pPr>
                      <a:r>
                        <a:rPr lang="en-US" sz="1200" u="none" cap="none" strike="noStrike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Estructura y empuje</a:t>
                      </a:r>
                      <a:endParaRPr sz="1200" u="none" cap="none" strike="noStrik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T="47625" marB="47625" marR="114300" marL="11430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153" name="Google Shape;153;p10"/>
          <p:cNvSpPr/>
          <p:nvPr/>
        </p:nvSpPr>
        <p:spPr>
          <a:xfrm>
            <a:off x="5227290" y="780100"/>
            <a:ext cx="3516600" cy="235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400"/>
              <a:buFont typeface="Reddit Sans Medium"/>
              <a:buNone/>
            </a:pPr>
            <a:r>
              <a:rPr b="0" i="0" lang="en-US" sz="1400" u="none" cap="none" strike="noStrike">
                <a:solidFill>
                  <a:srgbClr val="101A3A"/>
                </a:solidFill>
                <a:latin typeface="Reddit Sans Medium"/>
                <a:ea typeface="Reddit Sans Medium"/>
                <a:cs typeface="Reddit Sans Medium"/>
                <a:sym typeface="Reddit Sans Medium"/>
              </a:rPr>
              <a:t>Flujo, controles y seguridad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10"/>
          <p:cNvSpPr/>
          <p:nvPr/>
        </p:nvSpPr>
        <p:spPr>
          <a:xfrm>
            <a:off x="5227290" y="1016473"/>
            <a:ext cx="3516600" cy="32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200"/>
              <a:buFont typeface="Reddit Sans"/>
              <a:buNone/>
            </a:pPr>
            <a:r>
              <a:rPr b="1" i="0" lang="en-US" sz="1200" u="none" cap="none" strike="noStrike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Flujo:</a:t>
            </a:r>
            <a:r>
              <a:rPr b="0" i="0" lang="en-US" sz="1200" u="none" cap="none" strike="noStrike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la app Android envía comandos; el HC-05 los pasa por UART al STM32, que controla motores con PWM.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200"/>
              <a:buFont typeface="Reddit Sans"/>
              <a:buNone/>
            </a:pPr>
            <a:r>
              <a:rPr b="1" i="0" lang="en-US" sz="1200" u="none" cap="none" strike="noStrike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Controles:</a:t>
            </a:r>
            <a:r>
              <a:rPr b="0" i="0" lang="en-US" sz="1200" u="none" cap="none" strike="noStrike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avanzar, retroceder, girar izquierda y derecha, regular velocidad, activar agua, detener.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200"/>
              <a:buFont typeface="Reddit Sans"/>
              <a:buNone/>
            </a:pPr>
            <a:r>
              <a:rPr b="1" i="0" lang="en-US" sz="1200" u="none" cap="none" strike="noStrike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Sensores:</a:t>
            </a:r>
            <a:r>
              <a:rPr b="0" i="0" lang="en-US" sz="1200" u="none" cap="none" strike="noStrike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ante una condición de borde, el STM32 puede detener o limitar el movimiento.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200"/>
              <a:buFont typeface="Reddit Sans"/>
              <a:buNone/>
            </a:pPr>
            <a:r>
              <a:rPr b="1" i="0" lang="en-US" sz="1200" u="none" cap="none" strike="noStrike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Botón AGUA:</a:t>
            </a:r>
            <a:r>
              <a:rPr b="0" i="0" lang="en-US" sz="1200" u="none" cap="none" strike="noStrike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Android → Bluetooth → HC-05 → STM32 activa el circuito de potencia → la bomba impulsa agua a la boquilla → al terminar la orden se detiene.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200"/>
              <a:buFont typeface="Reddit Sans"/>
              <a:buNone/>
            </a:pPr>
            <a:r>
              <a:rPr b="1" i="0" lang="en-US" sz="1200" u="none" cap="none" strike="noStrike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Seguridad:</a:t>
            </a:r>
            <a:r>
              <a:rPr b="0" i="0" lang="en-US" sz="1200" u="none" cap="none" strike="noStrike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comando STOP detiene motores y bomba; parada por pérdida de comunicación, baja presión; solo objetivos inanimados, sin salpicar personas ni equipo eléctrico.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10"/>
          <p:cNvSpPr/>
          <p:nvPr/>
        </p:nvSpPr>
        <p:spPr>
          <a:xfrm>
            <a:off x="5227290" y="4671715"/>
            <a:ext cx="474315" cy="216694"/>
          </a:xfrm>
          <a:prstGeom prst="roundRect">
            <a:avLst>
              <a:gd fmla="val 50000" name="adj"/>
            </a:avLst>
          </a:prstGeom>
          <a:noFill/>
          <a:ln cap="flat" cmpd="sng" w="9525">
            <a:solidFill>
              <a:srgbClr val="101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" name="Google Shape;156;p10"/>
          <p:cNvSpPr/>
          <p:nvPr/>
        </p:nvSpPr>
        <p:spPr>
          <a:xfrm>
            <a:off x="5320159" y="4721721"/>
            <a:ext cx="745778" cy="1238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950"/>
              <a:buFont typeface="Reddit Mono Medium"/>
              <a:buNone/>
            </a:pPr>
            <a:r>
              <a:rPr b="0" i="0" lang="en-US" sz="950" u="none" cap="none" strike="noStrike">
                <a:solidFill>
                  <a:srgbClr val="101A3A"/>
                </a:solidFill>
                <a:latin typeface="Reddit Mono Medium"/>
                <a:ea typeface="Reddit Mono Medium"/>
                <a:cs typeface="Reddit Mono Medium"/>
                <a:sym typeface="Reddit Mono Medium"/>
              </a:rPr>
              <a:t>AGUA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10"/>
          <p:cNvSpPr/>
          <p:nvPr/>
        </p:nvSpPr>
        <p:spPr>
          <a:xfrm>
            <a:off x="5777805" y="4671715"/>
            <a:ext cx="474315" cy="216694"/>
          </a:xfrm>
          <a:prstGeom prst="roundRect">
            <a:avLst>
              <a:gd fmla="val 50000" name="adj"/>
            </a:avLst>
          </a:prstGeom>
          <a:noFill/>
          <a:ln cap="flat" cmpd="sng" w="9525">
            <a:solidFill>
              <a:srgbClr val="101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10"/>
          <p:cNvSpPr/>
          <p:nvPr/>
        </p:nvSpPr>
        <p:spPr>
          <a:xfrm>
            <a:off x="5870674" y="4721721"/>
            <a:ext cx="745778" cy="1238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950"/>
              <a:buFont typeface="Reddit Mono Medium"/>
              <a:buNone/>
            </a:pPr>
            <a:r>
              <a:rPr b="0" i="0" lang="en-US" sz="950" u="none" cap="none" strike="noStrike">
                <a:solidFill>
                  <a:srgbClr val="101A3A"/>
                </a:solidFill>
                <a:latin typeface="Reddit Mono Medium"/>
                <a:ea typeface="Reddit Mono Medium"/>
                <a:cs typeface="Reddit Mono Medium"/>
                <a:sym typeface="Reddit Mono Medium"/>
              </a:rPr>
              <a:t>STOP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9" name="Google Shape;159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45075" y="4102225"/>
            <a:ext cx="1041275" cy="1041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"/>
          <p:cNvSpPr/>
          <p:nvPr/>
        </p:nvSpPr>
        <p:spPr>
          <a:xfrm>
            <a:off x="419100" y="323850"/>
            <a:ext cx="1601912" cy="176882"/>
          </a:xfrm>
          <a:prstGeom prst="roundRect">
            <a:avLst>
              <a:gd fmla="val 50000" name="adj"/>
            </a:avLst>
          </a:prstGeom>
          <a:solidFill>
            <a:srgbClr val="FF842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"/>
          <p:cNvSpPr/>
          <p:nvPr/>
        </p:nvSpPr>
        <p:spPr>
          <a:xfrm>
            <a:off x="514350" y="359907"/>
            <a:ext cx="1868612" cy="11020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Reddit Mono Medium"/>
              <a:buNone/>
            </a:pPr>
            <a:r>
              <a:rPr b="0" i="0" lang="en-US" sz="850" u="none" cap="none" strike="noStrike">
                <a:solidFill>
                  <a:srgbClr val="000000"/>
                </a:solidFill>
                <a:latin typeface="Reddit Mono Medium"/>
                <a:ea typeface="Reddit Mono Medium"/>
                <a:cs typeface="Reddit Mono Medium"/>
                <a:sym typeface="Reddit Mono Medium"/>
              </a:rPr>
              <a:t>PRESUPUESTO PRELIMINAR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11"/>
          <p:cNvSpPr/>
          <p:nvPr/>
        </p:nvSpPr>
        <p:spPr>
          <a:xfrm>
            <a:off x="419100" y="549771"/>
            <a:ext cx="5260330" cy="5493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950"/>
              <a:buFont typeface="Parkinsans"/>
              <a:buNone/>
            </a:pPr>
            <a:r>
              <a:rPr b="1" i="0" lang="en-US" sz="1950" u="none" cap="none" strike="noStrike">
                <a:solidFill>
                  <a:srgbClr val="101A3A"/>
                </a:solidFill>
                <a:latin typeface="Parkinsans"/>
                <a:ea typeface="Parkinsans"/>
                <a:cs typeface="Parkinsans"/>
                <a:sym typeface="Parkinsans"/>
              </a:rPr>
              <a:t>El presupuesto está por cotizar y la arquitectura modular lo hace viable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11"/>
          <p:cNvSpPr/>
          <p:nvPr/>
        </p:nvSpPr>
        <p:spPr>
          <a:xfrm>
            <a:off x="6226894" y="641003"/>
            <a:ext cx="1301874" cy="140866"/>
          </a:xfrm>
          <a:prstGeom prst="roundRect">
            <a:avLst>
              <a:gd fmla="val 50000" name="adj"/>
            </a:avLst>
          </a:prstGeom>
          <a:noFill/>
          <a:ln cap="flat" cmpd="sng" w="9525">
            <a:solidFill>
              <a:srgbClr val="101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p11"/>
          <p:cNvSpPr/>
          <p:nvPr/>
        </p:nvSpPr>
        <p:spPr>
          <a:xfrm>
            <a:off x="6439644" y="666200"/>
            <a:ext cx="1489174" cy="93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750"/>
              <a:buFont typeface="Reddit Mono Medium"/>
              <a:buNone/>
            </a:pPr>
            <a:r>
              <a:rPr b="0" i="0" lang="en-US" sz="750" u="none" cap="none" strike="noStrike">
                <a:solidFill>
                  <a:srgbClr val="101A3A"/>
                </a:solidFill>
                <a:latin typeface="Reddit Mono Medium"/>
                <a:ea typeface="Reddit Mono Medium"/>
                <a:cs typeface="Reddit Mono Medium"/>
                <a:sym typeface="Reddit Mono Medium"/>
              </a:rPr>
              <a:t>Valores por cotizar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11"/>
          <p:cNvSpPr/>
          <p:nvPr/>
        </p:nvSpPr>
        <p:spPr>
          <a:xfrm>
            <a:off x="7585918" y="641003"/>
            <a:ext cx="1138982" cy="140866"/>
          </a:xfrm>
          <a:prstGeom prst="roundRect">
            <a:avLst>
              <a:gd fmla="val 50000" name="adj"/>
            </a:avLst>
          </a:prstGeom>
          <a:noFill/>
          <a:ln cap="flat" cmpd="sng" w="9525">
            <a:solidFill>
              <a:srgbClr val="101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1"/>
          <p:cNvSpPr/>
          <p:nvPr/>
        </p:nvSpPr>
        <p:spPr>
          <a:xfrm>
            <a:off x="7798668" y="666200"/>
            <a:ext cx="926232" cy="93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750"/>
              <a:buFont typeface="Reddit Mono Medium"/>
              <a:buNone/>
            </a:pPr>
            <a:r>
              <a:rPr b="0" i="0" lang="en-US" sz="750" u="none" cap="none" strike="noStrike">
                <a:solidFill>
                  <a:srgbClr val="101A3A"/>
                </a:solidFill>
                <a:latin typeface="Reddit Mono Medium"/>
                <a:ea typeface="Reddit Mono Medium"/>
                <a:cs typeface="Reddit Mono Medium"/>
                <a:sym typeface="Reddit Mono Medium"/>
              </a:rPr>
              <a:t>Módulos estándar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72" name="Google Shape;172;p11"/>
          <p:cNvGraphicFramePr/>
          <p:nvPr/>
        </p:nvGraphicFramePr>
        <p:xfrm>
          <a:off x="419100" y="1379934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{C7E1EBFA-1DD8-40F3-9E00-23D77B50473C}</a:tableStyleId>
              </a:tblPr>
              <a:tblGrid>
                <a:gridCol w="1829775"/>
                <a:gridCol w="742050"/>
                <a:gridCol w="1031675"/>
                <a:gridCol w="1095300"/>
                <a:gridCol w="228600"/>
                <a:gridCol w="228600"/>
                <a:gridCol w="228750"/>
              </a:tblGrid>
              <a:tr h="284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050"/>
                        <a:buFont typeface="Reddit Sans"/>
                        <a:buNone/>
                      </a:pPr>
                      <a:r>
                        <a:rPr b="1" lang="en-US" sz="1050" u="none" cap="none" strike="noStrike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Componente</a:t>
                      </a:r>
                      <a:endParaRPr sz="1050" u="none" cap="none" strike="noStrik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T="47625" marB="47625" marR="114300" marL="114300" anchor="ctr">
                    <a:lnL cap="flat" cmpd="sng" w="38100">
                      <a:solidFill>
                        <a:srgbClr val="EEF2F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EEF2F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EEF2F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2F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050"/>
                        <a:buFont typeface="Reddit Sans"/>
                        <a:buNone/>
                      </a:pPr>
                      <a:r>
                        <a:rPr b="1" lang="en-US" sz="1050" u="none" cap="none" strike="noStrike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Cant.</a:t>
                      </a:r>
                      <a:endParaRPr sz="1050" u="none" cap="none" strike="noStrik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T="47625" marB="47625" marR="114300" marL="114300" anchor="ctr">
                    <a:lnL cap="flat" cmpd="sng" w="38100">
                      <a:solidFill>
                        <a:srgbClr val="EEF2F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EEF2F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EEF2F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2F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050"/>
                        <a:buFont typeface="Reddit Sans"/>
                        <a:buNone/>
                      </a:pPr>
                      <a:r>
                        <a:rPr b="1" lang="en-US" sz="1050" u="none" cap="none" strike="noStrike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Unitario</a:t>
                      </a:r>
                      <a:endParaRPr sz="1050" u="none" cap="none" strike="noStrik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T="47625" marB="47625" marR="114300" marL="114300" anchor="ctr">
                    <a:lnL cap="flat" cmpd="sng" w="38100">
                      <a:solidFill>
                        <a:srgbClr val="EEF2F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EEF2F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EEF2F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2F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050"/>
                        <a:buFont typeface="Reddit Sans"/>
                        <a:buNone/>
                      </a:pPr>
                      <a:r>
                        <a:rPr b="1" lang="en-US" sz="1050" u="none" cap="none" strike="noStrike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Subtotal</a:t>
                      </a:r>
                      <a:endParaRPr sz="1050" u="none" cap="none" strike="noStrik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T="47625" marB="47625" marR="114300" marL="114300" anchor="ctr">
                    <a:lnL cap="flat" cmpd="sng" w="38100">
                      <a:solidFill>
                        <a:srgbClr val="EEF2F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EEF2F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EEF2F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2F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alibri"/>
                        <a:buNone/>
                      </a:pPr>
                      <a:r>
                        <a:t/>
                      </a:r>
                      <a:endParaRPr sz="1050" u="none" cap="none" strike="noStrik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T="47625" marB="47625" marR="114300" marL="114300" anchor="ctr">
                    <a:lnL cap="flat" cmpd="sng" w="38100">
                      <a:solidFill>
                        <a:srgbClr val="EEF2F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EEF2F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EEF2F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2F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alibri"/>
                        <a:buNone/>
                      </a:pPr>
                      <a:r>
                        <a:t/>
                      </a:r>
                      <a:endParaRPr sz="1050" u="none" cap="none" strike="noStrik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T="47625" marB="47625" marR="114300" marL="114300" anchor="ctr">
                    <a:lnL cap="flat" cmpd="sng" w="38100">
                      <a:solidFill>
                        <a:srgbClr val="EEF2F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EEF2F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EEF2F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2F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alibri"/>
                        <a:buNone/>
                      </a:pPr>
                      <a:r>
                        <a:t/>
                      </a:r>
                      <a:endParaRPr sz="1050" u="none" cap="none" strike="noStrik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T="47625" marB="47625" marR="114300" marL="114300" anchor="ctr">
                    <a:lnL cap="flat" cmpd="sng" w="38100">
                      <a:solidFill>
                        <a:srgbClr val="EEF2FD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EEF2FD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EEF2F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2FD"/>
                    </a:solidFill>
                  </a:tcPr>
                </a:tc>
              </a:tr>
              <a:tr h="4636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050"/>
                        <a:buFont typeface="Reddit Sans"/>
                        <a:buNone/>
                      </a:pPr>
                      <a:r>
                        <a:rPr lang="en-US" sz="1050" u="none" cap="none" strike="noStrike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STM32F407G-DISC1 (reutilizable)</a:t>
                      </a:r>
                      <a:endParaRPr sz="1050" u="none" cap="none" strike="noStrik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T="47625" marB="47625" marR="114300" marL="114300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050"/>
                        <a:buFont typeface="Reddit Sans"/>
                        <a:buNone/>
                      </a:pPr>
                      <a:r>
                        <a:rPr lang="en-US" sz="1050" u="none" cap="none" strike="noStrike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1</a:t>
                      </a:r>
                      <a:endParaRPr sz="1050" u="none" cap="none" strike="noStrik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T="47625" marB="47625" marR="114300" marL="114300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050"/>
                        <a:buFont typeface="Reddit Sans"/>
                        <a:buNone/>
                      </a:pPr>
                      <a:r>
                        <a:rPr lang="en-US" sz="1050" u="none" cap="none" strike="noStrike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[COTIZAR]</a:t>
                      </a:r>
                      <a:endParaRPr sz="1050" u="none" cap="none" strike="noStrik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T="47625" marB="47625" marR="114300" marL="114300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050"/>
                        <a:buFont typeface="Reddit Sans"/>
                        <a:buNone/>
                      </a:pPr>
                      <a:r>
                        <a:rPr lang="en-US" sz="1050" u="none" cap="none" strike="noStrike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[COTIZAR]</a:t>
                      </a:r>
                      <a:endParaRPr sz="1050" u="none" cap="none" strike="noStrik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T="47625" marB="47625" marR="114300" marL="114300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alibri"/>
                        <a:buNone/>
                      </a:pPr>
                      <a:r>
                        <a:t/>
                      </a:r>
                      <a:endParaRPr sz="1050" u="none" cap="none" strike="noStrik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T="47625" marB="47625" marR="114300" marL="114300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alibri"/>
                        <a:buNone/>
                      </a:pPr>
                      <a:r>
                        <a:t/>
                      </a:r>
                      <a:endParaRPr sz="1050" u="none" cap="none" strike="noStrik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T="47625" marB="47625" marR="114300" marL="114300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alibri"/>
                        <a:buNone/>
                      </a:pPr>
                      <a:r>
                        <a:t/>
                      </a:r>
                      <a:endParaRPr sz="1050" u="none" cap="none" strike="noStrik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T="47625" marB="47625" marR="114300" marL="114300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050"/>
                        <a:buFont typeface="Reddit Sans"/>
                        <a:buNone/>
                      </a:pPr>
                      <a:r>
                        <a:rPr lang="en-US" sz="1050" u="none" cap="none" strike="noStrike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Bluetooth HC-05</a:t>
                      </a:r>
                      <a:endParaRPr sz="1050" u="none" cap="none" strike="noStrik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T="47625" marB="47625" marR="114300" marL="114300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050"/>
                        <a:buFont typeface="Reddit Sans"/>
                        <a:buNone/>
                      </a:pPr>
                      <a:r>
                        <a:rPr lang="en-US" sz="1050" u="none" cap="none" strike="noStrike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1</a:t>
                      </a:r>
                      <a:endParaRPr sz="1050" u="none" cap="none" strike="noStrik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T="47625" marB="47625" marR="114300" marL="114300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050"/>
                        <a:buFont typeface="Reddit Sans"/>
                        <a:buNone/>
                      </a:pPr>
                      <a:r>
                        <a:rPr lang="en-US" sz="1050" u="none" cap="none" strike="noStrike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[COTIZAR]</a:t>
                      </a:r>
                      <a:endParaRPr sz="1050" u="none" cap="none" strike="noStrik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T="47625" marB="47625" marR="114300" marL="114300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050"/>
                        <a:buFont typeface="Reddit Sans"/>
                        <a:buNone/>
                      </a:pPr>
                      <a:r>
                        <a:rPr lang="en-US" sz="1050" u="none" cap="none" strike="noStrike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[COTIZAR]</a:t>
                      </a:r>
                      <a:endParaRPr sz="1050" u="none" cap="none" strike="noStrik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T="47625" marB="47625" marR="114300" marL="114300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alibri"/>
                        <a:buNone/>
                      </a:pPr>
                      <a:r>
                        <a:t/>
                      </a:r>
                      <a:endParaRPr sz="1050" u="none" cap="none" strike="noStrik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T="47625" marB="47625" marR="114300" marL="114300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alibri"/>
                        <a:buNone/>
                      </a:pPr>
                      <a:r>
                        <a:t/>
                      </a:r>
                      <a:endParaRPr sz="1050" u="none" cap="none" strike="noStrik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T="47625" marB="47625" marR="114300" marL="114300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alibri"/>
                        <a:buNone/>
                      </a:pPr>
                      <a:r>
                        <a:t/>
                      </a:r>
                      <a:endParaRPr sz="1050" u="none" cap="none" strike="noStrik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T="47625" marB="47625" marR="114300" marL="114300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636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050"/>
                        <a:buFont typeface="Reddit Sans"/>
                        <a:buNone/>
                      </a:pPr>
                      <a:r>
                        <a:rPr lang="en-US" sz="1050" u="none" cap="none" strike="noStrike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Motores DC con reductora</a:t>
                      </a:r>
                      <a:endParaRPr sz="1050" u="none" cap="none" strike="noStrik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T="47625" marB="47625" marR="114300" marL="114300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050"/>
                        <a:buFont typeface="Reddit Sans"/>
                        <a:buNone/>
                      </a:pPr>
                      <a:r>
                        <a:rPr lang="en-US" sz="1050" u="none" cap="none" strike="noStrike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2</a:t>
                      </a:r>
                      <a:endParaRPr sz="1050" u="none" cap="none" strike="noStrik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T="47625" marB="47625" marR="114300" marL="114300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050"/>
                        <a:buFont typeface="Reddit Sans"/>
                        <a:buNone/>
                      </a:pPr>
                      <a:r>
                        <a:rPr lang="en-US" sz="1050" u="none" cap="none" strike="noStrike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[COTIZAR]</a:t>
                      </a:r>
                      <a:endParaRPr sz="1050" u="none" cap="none" strike="noStrik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T="47625" marB="47625" marR="114300" marL="114300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050"/>
                        <a:buFont typeface="Reddit Sans"/>
                        <a:buNone/>
                      </a:pPr>
                      <a:r>
                        <a:rPr lang="en-US" sz="1050" u="none" cap="none" strike="noStrike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[COTIZAR]</a:t>
                      </a:r>
                      <a:endParaRPr sz="1050" u="none" cap="none" strike="noStrik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T="47625" marB="47625" marR="114300" marL="114300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alibri"/>
                        <a:buNone/>
                      </a:pPr>
                      <a:r>
                        <a:t/>
                      </a:r>
                      <a:endParaRPr sz="1050" u="none" cap="none" strike="noStrik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T="47625" marB="47625" marR="114300" marL="114300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alibri"/>
                        <a:buNone/>
                      </a:pPr>
                      <a:r>
                        <a:t/>
                      </a:r>
                      <a:endParaRPr sz="1050" u="none" cap="none" strike="noStrik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T="47625" marB="47625" marR="114300" marL="114300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alibri"/>
                        <a:buNone/>
                      </a:pPr>
                      <a:r>
                        <a:t/>
                      </a:r>
                      <a:endParaRPr sz="1050" u="none" cap="none" strike="noStrik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T="47625" marB="47625" marR="114300" marL="114300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050"/>
                        <a:buFont typeface="Reddit Sans"/>
                        <a:buNone/>
                      </a:pPr>
                      <a:r>
                        <a:rPr lang="en-US" sz="1050" u="none" cap="none" strike="noStrike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Driver puente H</a:t>
                      </a:r>
                      <a:endParaRPr sz="1050" u="none" cap="none" strike="noStrik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T="47625" marB="47625" marR="114300" marL="114300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050"/>
                        <a:buFont typeface="Reddit Sans"/>
                        <a:buNone/>
                      </a:pPr>
                      <a:r>
                        <a:rPr lang="en-US" sz="1050" u="none" cap="none" strike="noStrike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1</a:t>
                      </a:r>
                      <a:endParaRPr sz="1050" u="none" cap="none" strike="noStrik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T="47625" marB="47625" marR="114300" marL="114300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050"/>
                        <a:buFont typeface="Reddit Sans"/>
                        <a:buNone/>
                      </a:pPr>
                      <a:r>
                        <a:rPr lang="en-US" sz="1050" u="none" cap="none" strike="noStrike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[COTIZAR]</a:t>
                      </a:r>
                      <a:endParaRPr sz="1050" u="none" cap="none" strike="noStrik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T="47625" marB="47625" marR="114300" marL="114300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050"/>
                        <a:buFont typeface="Reddit Sans"/>
                        <a:buNone/>
                      </a:pPr>
                      <a:r>
                        <a:rPr lang="en-US" sz="1050" u="none" cap="none" strike="noStrike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[COTIZAR]</a:t>
                      </a:r>
                      <a:endParaRPr sz="1050" u="none" cap="none" strike="noStrik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T="47625" marB="47625" marR="114300" marL="114300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alibri"/>
                        <a:buNone/>
                      </a:pPr>
                      <a:r>
                        <a:t/>
                      </a:r>
                      <a:endParaRPr sz="1050" u="none" cap="none" strike="noStrik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T="47625" marB="47625" marR="114300" marL="114300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alibri"/>
                        <a:buNone/>
                      </a:pPr>
                      <a:r>
                        <a:t/>
                      </a:r>
                      <a:endParaRPr sz="1050" u="none" cap="none" strike="noStrik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T="47625" marB="47625" marR="114300" marL="114300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alibri"/>
                        <a:buNone/>
                      </a:pPr>
                      <a:r>
                        <a:t/>
                      </a:r>
                      <a:endParaRPr sz="1050" u="none" cap="none" strike="noStrik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T="47625" marB="47625" marR="114300" marL="114300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636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050"/>
                        <a:buFont typeface="Reddit Sans"/>
                        <a:buNone/>
                      </a:pPr>
                      <a:r>
                        <a:rPr lang="en-US" sz="1050" u="none" cap="none" strike="noStrike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Sensores infrarrojos digitales</a:t>
                      </a:r>
                      <a:endParaRPr sz="1050" u="none" cap="none" strike="noStrik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T="47625" marB="47625" marR="114300" marL="114300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050"/>
                        <a:buFont typeface="Reddit Sans"/>
                        <a:buNone/>
                      </a:pPr>
                      <a:r>
                        <a:rPr lang="en-US" sz="1050" u="none" cap="none" strike="noStrike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2</a:t>
                      </a:r>
                      <a:endParaRPr sz="1050" u="none" cap="none" strike="noStrik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T="47625" marB="47625" marR="114300" marL="114300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050"/>
                        <a:buFont typeface="Reddit Sans"/>
                        <a:buNone/>
                      </a:pPr>
                      <a:r>
                        <a:rPr lang="en-US" sz="1050" u="none" cap="none" strike="noStrike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[COTIZAR]</a:t>
                      </a:r>
                      <a:endParaRPr sz="1050" u="none" cap="none" strike="noStrik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T="47625" marB="47625" marR="114300" marL="114300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050"/>
                        <a:buFont typeface="Reddit Sans"/>
                        <a:buNone/>
                      </a:pPr>
                      <a:r>
                        <a:rPr lang="en-US" sz="1050" u="none" cap="none" strike="noStrike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[COTIZAR]</a:t>
                      </a:r>
                      <a:endParaRPr sz="1050" u="none" cap="none" strike="noStrik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T="47625" marB="47625" marR="114300" marL="114300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alibri"/>
                        <a:buNone/>
                      </a:pPr>
                      <a:r>
                        <a:t/>
                      </a:r>
                      <a:endParaRPr sz="1050" u="none" cap="none" strike="noStrik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T="47625" marB="47625" marR="114300" marL="114300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alibri"/>
                        <a:buNone/>
                      </a:pPr>
                      <a:r>
                        <a:t/>
                      </a:r>
                      <a:endParaRPr sz="1050" u="none" cap="none" strike="noStrik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T="47625" marB="47625" marR="114300" marL="114300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alibri"/>
                        <a:buNone/>
                      </a:pPr>
                      <a:r>
                        <a:t/>
                      </a:r>
                      <a:endParaRPr sz="1050" u="none" cap="none" strike="noStrik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T="47625" marB="47625" marR="114300" marL="114300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636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050"/>
                        <a:buFont typeface="Reddit Sans"/>
                        <a:buNone/>
                      </a:pPr>
                      <a:r>
                        <a:rPr lang="en-US" sz="1050" u="none" cap="none" strike="noStrike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Minibomba, depósito y boquilla</a:t>
                      </a:r>
                      <a:endParaRPr sz="1050" u="none" cap="none" strike="noStrik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T="47625" marB="47625" marR="114300" marL="114300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050"/>
                        <a:buFont typeface="Reddit Sans"/>
                        <a:buNone/>
                      </a:pPr>
                      <a:r>
                        <a:rPr lang="en-US" sz="1050" u="none" cap="none" strike="noStrike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1 cto.</a:t>
                      </a:r>
                      <a:endParaRPr sz="1050" u="none" cap="none" strike="noStrik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T="47625" marB="47625" marR="114300" marL="114300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050"/>
                        <a:buFont typeface="Reddit Sans"/>
                        <a:buNone/>
                      </a:pPr>
                      <a:r>
                        <a:rPr lang="en-US" sz="1050" u="none" cap="none" strike="noStrike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[COTIZAR]</a:t>
                      </a:r>
                      <a:endParaRPr sz="1050" u="none" cap="none" strike="noStrik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T="47625" marB="47625" marR="114300" marL="114300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050"/>
                        <a:buFont typeface="Reddit Sans"/>
                        <a:buNone/>
                      </a:pPr>
                      <a:r>
                        <a:rPr lang="en-US" sz="1050" u="none" cap="none" strike="noStrike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[COTIZAR]</a:t>
                      </a:r>
                      <a:endParaRPr sz="1050" u="none" cap="none" strike="noStrik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T="47625" marB="47625" marR="114300" marL="114300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alibri"/>
                        <a:buNone/>
                      </a:pPr>
                      <a:r>
                        <a:t/>
                      </a:r>
                      <a:endParaRPr sz="1050" u="none" cap="none" strike="noStrik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T="47625" marB="47625" marR="114300" marL="114300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alibri"/>
                        <a:buNone/>
                      </a:pPr>
                      <a:r>
                        <a:t/>
                      </a:r>
                      <a:endParaRPr sz="1050" u="none" cap="none" strike="noStrik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T="47625" marB="47625" marR="114300" marL="114300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alibri"/>
                        <a:buNone/>
                      </a:pPr>
                      <a:r>
                        <a:t/>
                      </a:r>
                      <a:endParaRPr sz="1050" u="none" cap="none" strike="noStrik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T="47625" marB="47625" marR="114300" marL="114300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636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050"/>
                        <a:buFont typeface="Reddit Sans"/>
                        <a:buNone/>
                      </a:pPr>
                      <a:r>
                        <a:rPr lang="en-US" sz="1050" u="none" cap="none" strike="noStrike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Chasis, cuña, ruedas y batería</a:t>
                      </a:r>
                      <a:endParaRPr sz="1050" u="none" cap="none" strike="noStrik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T="47625" marB="47625" marR="114300" marL="114300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050"/>
                        <a:buFont typeface="Reddit Sans"/>
                        <a:buNone/>
                      </a:pPr>
                      <a:r>
                        <a:rPr lang="en-US" sz="1050" u="none" cap="none" strike="noStrike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1 cto.</a:t>
                      </a:r>
                      <a:endParaRPr sz="1050" u="none" cap="none" strike="noStrik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T="47625" marB="47625" marR="114300" marL="114300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050"/>
                        <a:buFont typeface="Reddit Sans"/>
                        <a:buNone/>
                      </a:pPr>
                      <a:r>
                        <a:rPr lang="en-US" sz="1050" u="none" cap="none" strike="noStrike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[COTIZAR]</a:t>
                      </a:r>
                      <a:endParaRPr sz="1050" u="none" cap="none" strike="noStrik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T="47625" marB="47625" marR="114300" marL="114300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050"/>
                        <a:buFont typeface="Reddit Sans"/>
                        <a:buNone/>
                      </a:pPr>
                      <a:r>
                        <a:rPr lang="en-US" sz="1050" u="none" cap="none" strike="noStrike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[COTIZAR]</a:t>
                      </a:r>
                      <a:endParaRPr sz="1050" u="none" cap="none" strike="noStrik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T="47625" marB="47625" marR="114300" marL="114300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alibri"/>
                        <a:buNone/>
                      </a:pPr>
                      <a:r>
                        <a:t/>
                      </a:r>
                      <a:endParaRPr sz="1050" u="none" cap="none" strike="noStrik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T="47625" marB="47625" marR="114300" marL="114300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alibri"/>
                        <a:buNone/>
                      </a:pPr>
                      <a:r>
                        <a:t/>
                      </a:r>
                      <a:endParaRPr sz="1050" u="none" cap="none" strike="noStrik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T="47625" marB="47625" marR="114300" marL="114300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alibri"/>
                        <a:buNone/>
                      </a:pPr>
                      <a:r>
                        <a:t/>
                      </a:r>
                      <a:endParaRPr sz="1050" u="none" cap="none" strike="noStrik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T="47625" marB="47625" marR="114300" marL="114300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540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050"/>
                        <a:buFont typeface="Reddit Sans"/>
                        <a:buNone/>
                      </a:pPr>
                      <a:r>
                        <a:rPr b="1" lang="en-US" sz="1050" u="none" cap="none" strike="noStrike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Total estimado del proyecto</a:t>
                      </a:r>
                      <a:endParaRPr sz="1050" u="none" cap="none" strike="noStrik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T="47625" marB="47625" marR="114300" marL="114300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050"/>
                        <a:buFont typeface="Reddit Sans"/>
                        <a:buNone/>
                      </a:pPr>
                      <a:r>
                        <a:rPr lang="en-US" sz="1050" u="none" cap="none" strike="noStrike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—</a:t>
                      </a:r>
                      <a:endParaRPr sz="1050" u="none" cap="none" strike="noStrik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T="47625" marB="47625" marR="114300" marL="114300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050"/>
                        <a:buFont typeface="Reddit Sans"/>
                        <a:buNone/>
                      </a:pPr>
                      <a:r>
                        <a:rPr lang="en-US" sz="1050" u="none" cap="none" strike="noStrike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—</a:t>
                      </a:r>
                      <a:endParaRPr sz="1050" u="none" cap="none" strike="noStrik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T="47625" marB="47625" marR="114300" marL="114300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1A3A"/>
                        </a:buClr>
                        <a:buSzPts val="1050"/>
                        <a:buFont typeface="Reddit Sans"/>
                        <a:buNone/>
                      </a:pPr>
                      <a:r>
                        <a:rPr b="1" lang="en-US" sz="1050" u="none" cap="none" strike="noStrike">
                          <a:solidFill>
                            <a:srgbClr val="101A3A"/>
                          </a:solidFill>
                          <a:latin typeface="Reddit Sans"/>
                          <a:ea typeface="Reddit Sans"/>
                          <a:cs typeface="Reddit Sans"/>
                          <a:sym typeface="Reddit Sans"/>
                        </a:rPr>
                        <a:t>[PENDIENTE]</a:t>
                      </a:r>
                      <a:endParaRPr sz="1050" u="none" cap="none" strike="noStrik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T="47625" marB="47625" marR="114300" marL="114300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alibri"/>
                        <a:buNone/>
                      </a:pPr>
                      <a:r>
                        <a:t/>
                      </a:r>
                      <a:endParaRPr sz="1050" u="none" cap="none" strike="noStrik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T="47625" marB="47625" marR="114300" marL="114300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alibri"/>
                        <a:buNone/>
                      </a:pPr>
                      <a:r>
                        <a:t/>
                      </a:r>
                      <a:endParaRPr sz="1050" u="none" cap="none" strike="noStrik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T="47625" marB="47625" marR="114300" marL="114300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alibri"/>
                        <a:buNone/>
                      </a:pPr>
                      <a:r>
                        <a:t/>
                      </a:r>
                      <a:endParaRPr sz="1050" u="none" cap="none" strike="noStrike">
                        <a:latin typeface="Reddit Sans"/>
                        <a:ea typeface="Reddit Sans"/>
                        <a:cs typeface="Reddit Sans"/>
                        <a:sym typeface="Reddit Sans"/>
                      </a:endParaRPr>
                    </a:p>
                  </a:txBody>
                  <a:tcPr marT="47625" marB="47625" marR="114300" marL="114300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C9D1E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173" name="Google Shape;173;p11"/>
          <p:cNvSpPr/>
          <p:nvPr/>
        </p:nvSpPr>
        <p:spPr>
          <a:xfrm>
            <a:off x="6032450" y="1208484"/>
            <a:ext cx="38100" cy="3967535"/>
          </a:xfrm>
          <a:prstGeom prst="rect">
            <a:avLst/>
          </a:prstGeom>
          <a:solidFill>
            <a:srgbClr val="FF842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1"/>
          <p:cNvSpPr/>
          <p:nvPr/>
        </p:nvSpPr>
        <p:spPr>
          <a:xfrm>
            <a:off x="6203900" y="1246584"/>
            <a:ext cx="2521000" cy="187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150"/>
              <a:buFont typeface="Reddit Sans Medium"/>
              <a:buNone/>
            </a:pPr>
            <a:r>
              <a:rPr b="0" i="0" lang="en-US" sz="1150" u="none" cap="none" strike="noStrike">
                <a:solidFill>
                  <a:srgbClr val="101A3A"/>
                </a:solidFill>
                <a:latin typeface="Reddit Sans Medium"/>
                <a:ea typeface="Reddit Sans Medium"/>
                <a:cs typeface="Reddit Sans Medium"/>
                <a:sym typeface="Reddit Sans Medium"/>
              </a:rPr>
              <a:t>Viabilidad técnica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11"/>
          <p:cNvSpPr/>
          <p:nvPr/>
        </p:nvSpPr>
        <p:spPr>
          <a:xfrm>
            <a:off x="6203900" y="1520726"/>
            <a:ext cx="2521000" cy="454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900"/>
              <a:buFont typeface="Reddit Sans"/>
              <a:buNone/>
            </a:pPr>
            <a:r>
              <a:rPr b="0" i="0" lang="en-US" sz="900" u="none" cap="none" strike="noStrike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Dominio comprobado de la plataforma STM32F407 en prácticas. Periféricos UART, PWM y GPIO disponibles sin conflictos de pines.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11"/>
          <p:cNvSpPr/>
          <p:nvPr/>
        </p:nvSpPr>
        <p:spPr>
          <a:xfrm>
            <a:off x="6203900" y="2031950"/>
            <a:ext cx="2521000" cy="187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150"/>
              <a:buFont typeface="Reddit Sans Medium"/>
              <a:buNone/>
            </a:pPr>
            <a:r>
              <a:rPr b="0" i="0" lang="en-US" sz="1150" u="none" cap="none" strike="noStrike">
                <a:solidFill>
                  <a:srgbClr val="101A3A"/>
                </a:solidFill>
                <a:latin typeface="Reddit Sans Medium"/>
                <a:ea typeface="Reddit Sans Medium"/>
                <a:cs typeface="Reddit Sans Medium"/>
                <a:sym typeface="Reddit Sans Medium"/>
              </a:rPr>
              <a:t>Puntos de validación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11"/>
          <p:cNvSpPr/>
          <p:nvPr/>
        </p:nvSpPr>
        <p:spPr>
          <a:xfrm>
            <a:off x="6203900" y="2306092"/>
            <a:ext cx="2521000" cy="11367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13360" lvl="0" marL="21336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050"/>
              <a:buFont typeface="Reddit Sans"/>
              <a:buChar char="•"/>
            </a:pPr>
            <a:r>
              <a:rPr b="0" i="0" lang="en-US" sz="1050" u="none" cap="none" strike="noStrike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Consumo de corriente de motores vs. driver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13360" lvl="0" marL="21336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050"/>
              <a:buFont typeface="Reddit Sans"/>
              <a:buChar char="•"/>
            </a:pPr>
            <a:r>
              <a:rPr b="0" i="0" lang="en-US" sz="1050" u="none" cap="none" strike="noStrike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Aislamiento de transitorios inductivos de la bomba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13360" lvl="0" marL="21336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050"/>
              <a:buFont typeface="Reddit Sans"/>
              <a:buChar char="•"/>
            </a:pPr>
            <a:r>
              <a:rPr b="0" i="0" lang="en-US" sz="1050" u="none" cap="none" strike="noStrike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Calibración óptica de sensores sobre el dohyo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8" name="Google Shape;178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45075" y="4102225"/>
            <a:ext cx="1041275" cy="1041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12"/>
          <p:cNvSpPr/>
          <p:nvPr/>
        </p:nvSpPr>
        <p:spPr>
          <a:xfrm>
            <a:off x="419100" y="323850"/>
            <a:ext cx="1849487" cy="190500"/>
          </a:xfrm>
          <a:prstGeom prst="roundRect">
            <a:avLst>
              <a:gd fmla="val 50000" name="adj"/>
            </a:avLst>
          </a:prstGeom>
          <a:solidFill>
            <a:srgbClr val="1F4FE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" name="Google Shape;185;p12"/>
          <p:cNvSpPr/>
          <p:nvPr/>
        </p:nvSpPr>
        <p:spPr>
          <a:xfrm>
            <a:off x="514350" y="360759"/>
            <a:ext cx="2116187" cy="1238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Reddit Mono Medium"/>
              <a:buNone/>
            </a:pPr>
            <a:r>
              <a:rPr b="0" i="0" lang="en-US" sz="950" u="none" cap="none" strike="noStrike">
                <a:solidFill>
                  <a:srgbClr val="FFFFFF"/>
                </a:solidFill>
                <a:latin typeface="Reddit Mono Medium"/>
                <a:ea typeface="Reddit Mono Medium"/>
                <a:cs typeface="Reddit Mono Medium"/>
                <a:sym typeface="Reddit Mono Medium"/>
              </a:rPr>
              <a:t>CRONOGRAMA DE EJECUCIÓN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12"/>
          <p:cNvSpPr/>
          <p:nvPr/>
        </p:nvSpPr>
        <p:spPr>
          <a:xfrm>
            <a:off x="419100" y="576263"/>
            <a:ext cx="5537150" cy="6171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2200"/>
              <a:buFont typeface="Parkinsans"/>
              <a:buNone/>
            </a:pPr>
            <a:r>
              <a:rPr b="1" i="0" lang="en-US" sz="2200" u="none" cap="none" strike="noStrike">
                <a:solidFill>
                  <a:srgbClr val="101A3A"/>
                </a:solidFill>
                <a:latin typeface="Parkinsans"/>
                <a:ea typeface="Parkinsans"/>
                <a:cs typeface="Parkinsans"/>
                <a:sym typeface="Parkinsans"/>
              </a:rPr>
              <a:t>Tres etapas llevan el proyecto del 19 de octubre al 6 de diciembre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12"/>
          <p:cNvSpPr/>
          <p:nvPr/>
        </p:nvSpPr>
        <p:spPr>
          <a:xfrm>
            <a:off x="6333679" y="558626"/>
            <a:ext cx="1044997" cy="171450"/>
          </a:xfrm>
          <a:prstGeom prst="roundRect">
            <a:avLst>
              <a:gd fmla="val 50000" name="adj"/>
            </a:avLst>
          </a:prstGeom>
          <a:solidFill>
            <a:srgbClr val="1F4FE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2"/>
          <p:cNvSpPr/>
          <p:nvPr/>
        </p:nvSpPr>
        <p:spPr>
          <a:xfrm>
            <a:off x="6428929" y="594345"/>
            <a:ext cx="1311697" cy="1047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Reddit Mono Medium"/>
              <a:buNone/>
            </a:pPr>
            <a:r>
              <a:rPr b="0" i="0" lang="en-US" sz="850" u="none" cap="none" strike="noStrike">
                <a:solidFill>
                  <a:srgbClr val="FFFFFF"/>
                </a:solidFill>
                <a:latin typeface="Reddit Mono Medium"/>
                <a:ea typeface="Reddit Mono Medium"/>
                <a:cs typeface="Reddit Mono Medium"/>
                <a:sym typeface="Reddit Mono Medium"/>
              </a:rPr>
              <a:t>Etapa 1 (100%)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12"/>
          <p:cNvSpPr/>
          <p:nvPr/>
        </p:nvSpPr>
        <p:spPr>
          <a:xfrm>
            <a:off x="7435825" y="558626"/>
            <a:ext cx="1289075" cy="171450"/>
          </a:xfrm>
          <a:prstGeom prst="roundRect">
            <a:avLst>
              <a:gd fmla="val 50000" name="adj"/>
            </a:avLst>
          </a:prstGeom>
          <a:solidFill>
            <a:srgbClr val="FF842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2"/>
          <p:cNvSpPr/>
          <p:nvPr/>
        </p:nvSpPr>
        <p:spPr>
          <a:xfrm>
            <a:off x="7531075" y="594345"/>
            <a:ext cx="1193825" cy="1047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Reddit Mono Medium"/>
              <a:buNone/>
            </a:pPr>
            <a:r>
              <a:rPr b="0" i="0" lang="en-US" sz="850" u="none" cap="none" strike="noStrike">
                <a:solidFill>
                  <a:srgbClr val="000000"/>
                </a:solidFill>
                <a:latin typeface="Reddit Mono Medium"/>
                <a:ea typeface="Reddit Mono Medium"/>
                <a:cs typeface="Reddit Mono Medium"/>
                <a:sym typeface="Reddit Mono Medium"/>
              </a:rPr>
              <a:t>Etapa 2 (Hito 75%)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12"/>
          <p:cNvSpPr/>
          <p:nvPr/>
        </p:nvSpPr>
        <p:spPr>
          <a:xfrm>
            <a:off x="7374731" y="787226"/>
            <a:ext cx="1350169" cy="171450"/>
          </a:xfrm>
          <a:prstGeom prst="roundRect">
            <a:avLst>
              <a:gd fmla="val 50000" name="adj"/>
            </a:avLst>
          </a:prstGeom>
          <a:solidFill>
            <a:srgbClr val="12813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p12"/>
          <p:cNvSpPr/>
          <p:nvPr/>
        </p:nvSpPr>
        <p:spPr>
          <a:xfrm>
            <a:off x="7469981" y="822945"/>
            <a:ext cx="1254919" cy="1047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Reddit Mono Medium"/>
              <a:buNone/>
            </a:pPr>
            <a:r>
              <a:rPr b="0" i="0" lang="en-US" sz="850" u="none" cap="none" strike="noStrike">
                <a:solidFill>
                  <a:srgbClr val="FFFFFF"/>
                </a:solidFill>
                <a:latin typeface="Reddit Mono Medium"/>
                <a:ea typeface="Reddit Mono Medium"/>
                <a:cs typeface="Reddit Mono Medium"/>
                <a:sym typeface="Reddit Mono Medium"/>
              </a:rPr>
              <a:t>Etapa 3 (Hito 100%)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93" name="Google Shape;19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9100" y="1441103"/>
            <a:ext cx="5654055" cy="2222376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12"/>
          <p:cNvSpPr/>
          <p:nvPr/>
        </p:nvSpPr>
        <p:spPr>
          <a:xfrm>
            <a:off x="6301680" y="1269653"/>
            <a:ext cx="38100" cy="2565276"/>
          </a:xfrm>
          <a:prstGeom prst="rect">
            <a:avLst/>
          </a:prstGeom>
          <a:solidFill>
            <a:srgbClr val="1F4FE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p12"/>
          <p:cNvSpPr/>
          <p:nvPr/>
        </p:nvSpPr>
        <p:spPr>
          <a:xfrm>
            <a:off x="6473130" y="1307753"/>
            <a:ext cx="695399" cy="190500"/>
          </a:xfrm>
          <a:prstGeom prst="roundRect">
            <a:avLst>
              <a:gd fmla="val 50000" name="adj"/>
            </a:avLst>
          </a:prstGeom>
          <a:solidFill>
            <a:srgbClr val="1F4FE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2"/>
          <p:cNvSpPr/>
          <p:nvPr/>
        </p:nvSpPr>
        <p:spPr>
          <a:xfrm>
            <a:off x="6568380" y="1344662"/>
            <a:ext cx="962099" cy="1238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Reddit Mono Medium"/>
              <a:buNone/>
            </a:pPr>
            <a:r>
              <a:rPr b="0" i="0" lang="en-US" sz="950" u="none" cap="none" strike="noStrike">
                <a:solidFill>
                  <a:srgbClr val="FFFFFF"/>
                </a:solidFill>
                <a:latin typeface="Reddit Mono Medium"/>
                <a:ea typeface="Reddit Mono Medium"/>
                <a:cs typeface="Reddit Mono Medium"/>
                <a:sym typeface="Reddit Mono Medium"/>
              </a:rPr>
              <a:t>ETAPA 1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12"/>
          <p:cNvSpPr/>
          <p:nvPr/>
        </p:nvSpPr>
        <p:spPr>
          <a:xfrm>
            <a:off x="6473130" y="1588740"/>
            <a:ext cx="2251770" cy="36001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000"/>
              <a:buFont typeface="Reddit Sans"/>
              <a:buNone/>
            </a:pPr>
            <a:r>
              <a:rPr b="1" i="0" lang="en-US" sz="1000" u="none" cap="none" strike="noStrike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19 oct – 8 nov:</a:t>
            </a:r>
            <a:r>
              <a:rPr b="0" i="0" lang="en-US" sz="1000" u="none" cap="none" strike="noStrike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Propuesta, arquitectura, viabilidad y cronograma.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12"/>
          <p:cNvSpPr/>
          <p:nvPr/>
        </p:nvSpPr>
        <p:spPr>
          <a:xfrm>
            <a:off x="6473130" y="2005905"/>
            <a:ext cx="1056084" cy="190500"/>
          </a:xfrm>
          <a:prstGeom prst="roundRect">
            <a:avLst>
              <a:gd fmla="val 50000" name="adj"/>
            </a:avLst>
          </a:prstGeom>
          <a:solidFill>
            <a:srgbClr val="FF842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9" name="Google Shape;199;p12"/>
          <p:cNvSpPr/>
          <p:nvPr/>
        </p:nvSpPr>
        <p:spPr>
          <a:xfrm>
            <a:off x="6568380" y="2042815"/>
            <a:ext cx="1322784" cy="1238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Reddit Mono Medium"/>
              <a:buNone/>
            </a:pPr>
            <a:r>
              <a:rPr b="0" i="0" lang="en-US" sz="950" u="none" cap="none" strike="noStrike">
                <a:solidFill>
                  <a:srgbClr val="000000"/>
                </a:solidFill>
                <a:latin typeface="Reddit Mono Medium"/>
                <a:ea typeface="Reddit Mono Medium"/>
                <a:cs typeface="Reddit Mono Medium"/>
                <a:sym typeface="Reddit Mono Medium"/>
              </a:rPr>
              <a:t>HITO ETAPA 2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12"/>
          <p:cNvSpPr/>
          <p:nvPr/>
        </p:nvSpPr>
        <p:spPr>
          <a:xfrm>
            <a:off x="6473130" y="2286893"/>
            <a:ext cx="2251770" cy="36001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000"/>
              <a:buFont typeface="Reddit Sans"/>
              <a:buNone/>
            </a:pPr>
            <a:r>
              <a:rPr b="1" i="0" lang="en-US" sz="1000" u="none" cap="none" strike="noStrike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Meta 22 nov:</a:t>
            </a:r>
            <a:r>
              <a:rPr b="0" i="0" lang="en-US" sz="1000" u="none" cap="none" strike="noStrike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75% módulos aislados y ≥50% chasis físico funcional.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12"/>
          <p:cNvSpPr/>
          <p:nvPr/>
        </p:nvSpPr>
        <p:spPr>
          <a:xfrm>
            <a:off x="6473130" y="2704058"/>
            <a:ext cx="1056084" cy="190500"/>
          </a:xfrm>
          <a:prstGeom prst="roundRect">
            <a:avLst>
              <a:gd fmla="val 50000" name="adj"/>
            </a:avLst>
          </a:prstGeom>
          <a:solidFill>
            <a:srgbClr val="12813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2"/>
          <p:cNvSpPr/>
          <p:nvPr/>
        </p:nvSpPr>
        <p:spPr>
          <a:xfrm>
            <a:off x="6568380" y="2740967"/>
            <a:ext cx="1322784" cy="1238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Reddit Mono Medium"/>
              <a:buNone/>
            </a:pPr>
            <a:r>
              <a:rPr b="0" i="0" lang="en-US" sz="950" u="none" cap="none" strike="noStrike">
                <a:solidFill>
                  <a:srgbClr val="FFFFFF"/>
                </a:solidFill>
                <a:latin typeface="Reddit Mono Medium"/>
                <a:ea typeface="Reddit Mono Medium"/>
                <a:cs typeface="Reddit Mono Medium"/>
                <a:sym typeface="Reddit Mono Medium"/>
              </a:rPr>
              <a:t>HITO ETAPA 3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12"/>
          <p:cNvSpPr/>
          <p:nvPr/>
        </p:nvSpPr>
        <p:spPr>
          <a:xfrm>
            <a:off x="6473130" y="2985046"/>
            <a:ext cx="2251770" cy="36001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101A3A"/>
              </a:buClr>
              <a:buSzPts val="1000"/>
              <a:buFont typeface="Reddit Sans"/>
              <a:buNone/>
            </a:pPr>
            <a:r>
              <a:rPr b="1" i="0" lang="en-US" sz="1000" u="none" cap="none" strike="noStrike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Meta 6 dic:</a:t>
            </a:r>
            <a:r>
              <a:rPr b="0" i="0" lang="en-US" sz="1000" u="none" cap="none" strike="noStrike">
                <a:solidFill>
                  <a:srgbClr val="101A3A"/>
                </a:solidFill>
                <a:latin typeface="Reddit Sans"/>
                <a:ea typeface="Reddit Sans"/>
                <a:cs typeface="Reddit Sans"/>
                <a:sym typeface="Reddit Sans"/>
              </a:rPr>
              <a:t> 100% prototipo terminado, revisión de código y entrega.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12"/>
          <p:cNvSpPr/>
          <p:nvPr/>
        </p:nvSpPr>
        <p:spPr>
          <a:xfrm>
            <a:off x="419100" y="3973041"/>
            <a:ext cx="8724900" cy="1607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4A5372"/>
              </a:buClr>
              <a:buSzPts val="950"/>
              <a:buFont typeface="Reddit Sans"/>
              <a:buNone/>
            </a:pPr>
            <a:r>
              <a:rPr b="0" i="0" lang="en-US" sz="950" u="none" cap="none" strike="noStrike">
                <a:solidFill>
                  <a:srgbClr val="4A5372"/>
                </a:solidFill>
                <a:latin typeface="Reddit Sans"/>
                <a:ea typeface="Reddit Sans"/>
                <a:cs typeface="Reddit Sans"/>
                <a:sym typeface="Reddit Sans"/>
              </a:rPr>
              <a:t>Metas internas propuestas por el equipo sujetas a sincronización con el calendario oficial del profesor.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5" name="Google Shape;205;p1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45075" y="4102225"/>
            <a:ext cx="1041275" cy="1041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3"/>
          <p:cNvSpPr/>
          <p:nvPr/>
        </p:nvSpPr>
        <p:spPr>
          <a:xfrm>
            <a:off x="457200" y="457200"/>
            <a:ext cx="1200299" cy="190500"/>
          </a:xfrm>
          <a:prstGeom prst="roundRect">
            <a:avLst>
              <a:gd fmla="val 50000" name="adj"/>
            </a:avLst>
          </a:prstGeom>
          <a:solidFill>
            <a:srgbClr val="12813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3"/>
          <p:cNvSpPr/>
          <p:nvPr/>
        </p:nvSpPr>
        <p:spPr>
          <a:xfrm>
            <a:off x="552450" y="494109"/>
            <a:ext cx="1466999" cy="1238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Reddit Mono Medium"/>
              <a:buNone/>
            </a:pPr>
            <a:r>
              <a:rPr b="0" i="0" lang="en-US" sz="950" u="none" cap="none" strike="noStrike">
                <a:solidFill>
                  <a:srgbClr val="FFFFFF"/>
                </a:solidFill>
                <a:latin typeface="Reddit Mono Medium"/>
                <a:ea typeface="Reddit Mono Medium"/>
                <a:cs typeface="Reddit Mono Medium"/>
                <a:sym typeface="Reddit Mono Medium"/>
              </a:rPr>
              <a:t>CIERRE ETAPA 1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13"/>
          <p:cNvSpPr/>
          <p:nvPr/>
        </p:nvSpPr>
        <p:spPr>
          <a:xfrm>
            <a:off x="457200" y="742950"/>
            <a:ext cx="8077200" cy="2723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00"/>
              <a:buFont typeface="Parkinsans"/>
              <a:buNone/>
            </a:pPr>
            <a:r>
              <a:rPr b="1" i="0" lang="en-US" sz="1900" u="none" cap="none" strike="noStrike">
                <a:solidFill>
                  <a:srgbClr val="FFFFFF"/>
                </a:solidFill>
                <a:latin typeface="Parkinsans"/>
                <a:ea typeface="Parkinsans"/>
                <a:cs typeface="Parkinsans"/>
                <a:sym typeface="Parkinsans"/>
              </a:rPr>
              <a:t>La propuesta está lista 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13"/>
          <p:cNvSpPr/>
          <p:nvPr/>
        </p:nvSpPr>
        <p:spPr>
          <a:xfrm>
            <a:off x="457200" y="1110555"/>
            <a:ext cx="3981450" cy="265062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eddit Sans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Reddit Sans"/>
                <a:ea typeface="Reddit Sans"/>
                <a:cs typeface="Reddit Sans"/>
                <a:sym typeface="Reddit Sans"/>
              </a:rPr>
              <a:t>Avances de esta etapa:</a:t>
            </a:r>
            <a:r>
              <a:rPr b="0" i="0" lang="en-US" sz="1200" u="none" cap="none" strike="noStrike">
                <a:solidFill>
                  <a:srgbClr val="FFFFFF"/>
                </a:solidFill>
                <a:latin typeface="Reddit Sans"/>
                <a:ea typeface="Reddit Sans"/>
                <a:cs typeface="Reddit Sans"/>
                <a:sym typeface="Reddit Sans"/>
              </a:rPr>
              <a:t> concepto del robot; selección de la STM32F407G-DISC1 y del HC-05 (preliminar); diseño mecánico conceptual; identificación de motores, sensores y actuadores; propuesta del sistema de agua; diagrama de bloques; investigación de componentes y organización de etapas.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7000"/>
              </a:lnSpc>
              <a:spcBef>
                <a:spcPts val="70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eddit Sans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Reddit Sans"/>
                <a:ea typeface="Reddit Sans"/>
                <a:cs typeface="Reddit Sans"/>
                <a:sym typeface="Reddit Sans"/>
              </a:rPr>
              <a:t>GitHub:</a:t>
            </a:r>
            <a:r>
              <a:rPr b="0" i="0" lang="en-US" sz="1200" u="none" cap="none" strike="noStrike">
                <a:solidFill>
                  <a:srgbClr val="FFFFFF"/>
                </a:solidFill>
                <a:latin typeface="Reddit Sans"/>
                <a:ea typeface="Reddit Sans"/>
                <a:cs typeface="Reddit Sans"/>
                <a:sym typeface="Reddit Sans"/>
              </a:rPr>
              <a:t> repositorio SysEmb_Nombre_proyecto_LIMEy_SepDic2026 (ejemplo: SysEmb_RobotSumo_LIME01_SepDic2026), con README.md con descripción e integrantes y carpeta presentacion con el PowerPoint de la Etapa 1; un solo integrante lo organiza.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13"/>
          <p:cNvSpPr/>
          <p:nvPr/>
        </p:nvSpPr>
        <p:spPr>
          <a:xfrm>
            <a:off x="4552950" y="1110555"/>
            <a:ext cx="3981450" cy="106672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eddit Sans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Reddit Sans"/>
                <a:ea typeface="Reddit Sans"/>
                <a:cs typeface="Reddit Sans"/>
                <a:sym typeface="Reddit Sans"/>
              </a:rPr>
              <a:t>Evidencias:</a:t>
            </a:r>
            <a:r>
              <a:rPr b="0" i="0" lang="en-US" sz="1200" u="none" cap="none" strike="noStrike">
                <a:solidFill>
                  <a:srgbClr val="FFFFFF"/>
                </a:solidFill>
                <a:latin typeface="Reddit Sans"/>
                <a:ea typeface="Reddit Sans"/>
                <a:cs typeface="Reddit Sans"/>
                <a:sym typeface="Reddit Sans"/>
              </a:rPr>
              <a:t> solo las reales: bocetos, diagramas, información técnica y capturas de selección de materiales; compras o código base únicamente si existen. [Espacio para evidencias verificadas]. La experiencia de las prácticas 7 y 8 no prueba que el robot final funcione.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13"/>
          <p:cNvSpPr/>
          <p:nvPr/>
        </p:nvSpPr>
        <p:spPr>
          <a:xfrm>
            <a:off x="4552950" y="2267769"/>
            <a:ext cx="38100" cy="1409626"/>
          </a:xfrm>
          <a:prstGeom prst="rect">
            <a:avLst/>
          </a:prstGeom>
          <a:solidFill>
            <a:srgbClr val="12813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3"/>
          <p:cNvSpPr/>
          <p:nvPr/>
        </p:nvSpPr>
        <p:spPr>
          <a:xfrm>
            <a:off x="4762500" y="2439219"/>
            <a:ext cx="3600450" cy="106672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Reddit Sans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Reddit Sans"/>
                <a:ea typeface="Reddit Sans"/>
                <a:cs typeface="Reddit Sans"/>
                <a:sym typeface="Reddit Sans"/>
              </a:rPr>
              <a:t>Conclusión:</a:t>
            </a:r>
            <a:r>
              <a:rPr b="0" i="0" lang="en-US" sz="1200" u="none" cap="none" strike="noStrike">
                <a:solidFill>
                  <a:srgbClr val="FFFFFF"/>
                </a:solidFill>
                <a:latin typeface="Reddit Sans"/>
                <a:ea typeface="Reddit Sans"/>
                <a:cs typeface="Reddit Sans"/>
                <a:sym typeface="Reddit Sans"/>
              </a:rPr>
              <a:t> robot de sumo teleoperado por Bluetooth con STM32F407G-DISC1 que integra PWM, sensores digitales, UART y minibomba; las siguientes etapas construyen y prueban cada subsistema hasta un prototipo funcional.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13"/>
          <p:cNvSpPr/>
          <p:nvPr/>
        </p:nvSpPr>
        <p:spPr>
          <a:xfrm>
            <a:off x="8991600" y="0"/>
            <a:ext cx="914400" cy="5143500"/>
          </a:xfrm>
          <a:prstGeom prst="rect">
            <a:avLst/>
          </a:prstGeom>
          <a:solidFill>
            <a:srgbClr val="101A3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19" name="Google Shape;219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45075" y="4102225"/>
            <a:ext cx="1041275" cy="1041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